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8" d="100"/>
          <a:sy n="108" d="100"/>
        </p:scale>
        <p:origin x="67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 y="6217920"/>
            <a:ext cx="12024360" cy="10972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0"/>
            <a:ext cx="9144000" cy="914400"/>
          </a:xfrm>
          <a:prstGeom prst="rect">
            <a:avLst/>
          </a:prstGeom>
          <a:noFill/>
        </p:spPr>
        <p:txBody>
          <a:bodyPr wrap="square">
            <a:spAutoFit/>
          </a:bodyPr>
          <a:lstStyle/>
          <a:p>
            <a:pPr algn="l"/>
            <a:r>
              <a:rPr sz="4400" b="1" i="0">
                <a:solidFill>
                  <a:srgbClr val="FFFFFF"/>
                </a:solidFill>
                <a:latin typeface="Calibri"/>
              </a:rPr>
              <a:t>RETAIL SALES PERFORMANCE</a:t>
            </a:r>
          </a:p>
        </p:txBody>
      </p:sp>
      <p:sp>
        <p:nvSpPr>
          <p:cNvPr id="6" name="TextBox 5"/>
          <p:cNvSpPr txBox="1"/>
          <p:nvPr/>
        </p:nvSpPr>
        <p:spPr>
          <a:xfrm>
            <a:off x="548640" y="2331720"/>
            <a:ext cx="9144000" cy="731520"/>
          </a:xfrm>
          <a:prstGeom prst="rect">
            <a:avLst/>
          </a:prstGeom>
          <a:noFill/>
        </p:spPr>
        <p:txBody>
          <a:bodyPr wrap="square">
            <a:spAutoFit/>
          </a:bodyPr>
          <a:lstStyle/>
          <a:p>
            <a:pPr algn="l"/>
            <a:r>
              <a:rPr sz="4400" b="1" i="0">
                <a:solidFill>
                  <a:srgbClr val="4FC3F7"/>
                </a:solidFill>
                <a:latin typeface="Calibri"/>
              </a:rPr>
              <a:t>ANALYSIS REPORT</a:t>
            </a:r>
          </a:p>
        </p:txBody>
      </p:sp>
      <p:sp>
        <p:nvSpPr>
          <p:cNvPr id="7" name="TextBox 6"/>
          <p:cNvSpPr txBox="1"/>
          <p:nvPr/>
        </p:nvSpPr>
        <p:spPr>
          <a:xfrm>
            <a:off x="548640" y="3200400"/>
            <a:ext cx="9144000" cy="457200"/>
          </a:xfrm>
          <a:prstGeom prst="rect">
            <a:avLst/>
          </a:prstGeom>
          <a:noFill/>
        </p:spPr>
        <p:txBody>
          <a:bodyPr wrap="square">
            <a:spAutoFit/>
          </a:bodyPr>
          <a:lstStyle/>
          <a:p>
            <a:pPr algn="l"/>
            <a:r>
              <a:rPr sz="1800" b="0" i="1">
                <a:solidFill>
                  <a:srgbClr val="CADCFC"/>
                </a:solidFill>
                <a:latin typeface="Calibri"/>
              </a:rPr>
              <a:t>Are We Actually Profitable or Just Busy?</a:t>
            </a:r>
          </a:p>
        </p:txBody>
      </p:sp>
      <p:sp>
        <p:nvSpPr>
          <p:cNvPr id="8" name="TextBox 7"/>
          <p:cNvSpPr txBox="1"/>
          <p:nvPr/>
        </p:nvSpPr>
        <p:spPr>
          <a:xfrm>
            <a:off x="548640" y="3931920"/>
            <a:ext cx="10972800" cy="365760"/>
          </a:xfrm>
          <a:prstGeom prst="rect">
            <a:avLst/>
          </a:prstGeom>
          <a:noFill/>
        </p:spPr>
        <p:txBody>
          <a:bodyPr wrap="square">
            <a:spAutoFit/>
          </a:bodyPr>
          <a:lstStyle/>
          <a:p>
            <a:pPr algn="l"/>
            <a:r>
              <a:rPr sz="1100" b="0" i="0">
                <a:solidFill>
                  <a:srgbClr val="64748B"/>
                </a:solidFill>
                <a:latin typeface="Calibri"/>
              </a:rPr>
              <a:t>Period: January 2023 — December 2024   |   1,000 Transactions   |   5 Regions   |   5 Categories</a:t>
            </a:r>
          </a:p>
        </p:txBody>
      </p:sp>
      <p:sp>
        <p:nvSpPr>
          <p:cNvPr id="9" name="Rectangle 8"/>
          <p:cNvSpPr/>
          <p:nvPr/>
        </p:nvSpPr>
        <p:spPr>
          <a:xfrm>
            <a:off x="548640" y="4663440"/>
            <a:ext cx="2697480"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4663440"/>
            <a:ext cx="73152" cy="10058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4736592"/>
            <a:ext cx="2377440" cy="274320"/>
          </a:xfrm>
          <a:prstGeom prst="rect">
            <a:avLst/>
          </a:prstGeom>
          <a:noFill/>
        </p:spPr>
        <p:txBody>
          <a:bodyPr wrap="square">
            <a:spAutoFit/>
          </a:bodyPr>
          <a:lstStyle/>
          <a:p>
            <a:pPr algn="l"/>
            <a:r>
              <a:rPr sz="800" b="0" i="0">
                <a:solidFill>
                  <a:srgbClr val="CADCFC"/>
                </a:solidFill>
                <a:latin typeface="Calibri"/>
              </a:rPr>
              <a:t>Total Revenue</a:t>
            </a:r>
          </a:p>
        </p:txBody>
      </p:sp>
      <p:sp>
        <p:nvSpPr>
          <p:cNvPr id="12" name="TextBox 11"/>
          <p:cNvSpPr txBox="1"/>
          <p:nvPr/>
        </p:nvSpPr>
        <p:spPr>
          <a:xfrm>
            <a:off x="713232" y="4983480"/>
            <a:ext cx="2377440" cy="548640"/>
          </a:xfrm>
          <a:prstGeom prst="rect">
            <a:avLst/>
          </a:prstGeom>
          <a:noFill/>
        </p:spPr>
        <p:txBody>
          <a:bodyPr wrap="square">
            <a:spAutoFit/>
          </a:bodyPr>
          <a:lstStyle/>
          <a:p>
            <a:pPr algn="l"/>
            <a:r>
              <a:rPr sz="2200" b="1" i="0">
                <a:solidFill>
                  <a:srgbClr val="FFFFFF"/>
                </a:solidFill>
                <a:latin typeface="Calibri"/>
              </a:rPr>
              <a:t>₦2.14bn</a:t>
            </a:r>
          </a:p>
        </p:txBody>
      </p:sp>
      <p:sp>
        <p:nvSpPr>
          <p:cNvPr id="13" name="Rectangle 12"/>
          <p:cNvSpPr/>
          <p:nvPr/>
        </p:nvSpPr>
        <p:spPr>
          <a:xfrm>
            <a:off x="3456432" y="4663440"/>
            <a:ext cx="2697480"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56432" y="4663440"/>
            <a:ext cx="73152" cy="10058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21024" y="4736592"/>
            <a:ext cx="2377440" cy="274320"/>
          </a:xfrm>
          <a:prstGeom prst="rect">
            <a:avLst/>
          </a:prstGeom>
          <a:noFill/>
        </p:spPr>
        <p:txBody>
          <a:bodyPr wrap="square">
            <a:spAutoFit/>
          </a:bodyPr>
          <a:lstStyle/>
          <a:p>
            <a:pPr algn="l"/>
            <a:r>
              <a:rPr sz="800" b="0" i="0">
                <a:solidFill>
                  <a:srgbClr val="CADCFC"/>
                </a:solidFill>
                <a:latin typeface="Calibri"/>
              </a:rPr>
              <a:t>Total Profit</a:t>
            </a:r>
          </a:p>
        </p:txBody>
      </p:sp>
      <p:sp>
        <p:nvSpPr>
          <p:cNvPr id="16" name="TextBox 15"/>
          <p:cNvSpPr txBox="1"/>
          <p:nvPr/>
        </p:nvSpPr>
        <p:spPr>
          <a:xfrm>
            <a:off x="3621024" y="4983480"/>
            <a:ext cx="2377440" cy="548640"/>
          </a:xfrm>
          <a:prstGeom prst="rect">
            <a:avLst/>
          </a:prstGeom>
          <a:noFill/>
        </p:spPr>
        <p:txBody>
          <a:bodyPr wrap="square">
            <a:spAutoFit/>
          </a:bodyPr>
          <a:lstStyle/>
          <a:p>
            <a:pPr algn="l"/>
            <a:r>
              <a:rPr sz="2200" b="1" i="0">
                <a:solidFill>
                  <a:srgbClr val="FFFFFF"/>
                </a:solidFill>
                <a:latin typeface="Calibri"/>
              </a:rPr>
              <a:t>₦911.38M</a:t>
            </a:r>
          </a:p>
        </p:txBody>
      </p:sp>
      <p:sp>
        <p:nvSpPr>
          <p:cNvPr id="17" name="Rectangle 16"/>
          <p:cNvSpPr/>
          <p:nvPr/>
        </p:nvSpPr>
        <p:spPr>
          <a:xfrm>
            <a:off x="6364224" y="4663440"/>
            <a:ext cx="2697480"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64224" y="4663440"/>
            <a:ext cx="73152" cy="10058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28816" y="4736592"/>
            <a:ext cx="2377440" cy="274320"/>
          </a:xfrm>
          <a:prstGeom prst="rect">
            <a:avLst/>
          </a:prstGeom>
          <a:noFill/>
        </p:spPr>
        <p:txBody>
          <a:bodyPr wrap="square">
            <a:spAutoFit/>
          </a:bodyPr>
          <a:lstStyle/>
          <a:p>
            <a:pPr algn="l"/>
            <a:r>
              <a:rPr sz="800" b="0" i="0">
                <a:solidFill>
                  <a:srgbClr val="CADCFC"/>
                </a:solidFill>
                <a:latin typeface="Calibri"/>
              </a:rPr>
              <a:t>Avg Margin</a:t>
            </a:r>
          </a:p>
        </p:txBody>
      </p:sp>
      <p:sp>
        <p:nvSpPr>
          <p:cNvPr id="20" name="TextBox 19"/>
          <p:cNvSpPr txBox="1"/>
          <p:nvPr/>
        </p:nvSpPr>
        <p:spPr>
          <a:xfrm>
            <a:off x="6528816" y="4983480"/>
            <a:ext cx="2377440" cy="548640"/>
          </a:xfrm>
          <a:prstGeom prst="rect">
            <a:avLst/>
          </a:prstGeom>
          <a:noFill/>
        </p:spPr>
        <p:txBody>
          <a:bodyPr wrap="square">
            <a:spAutoFit/>
          </a:bodyPr>
          <a:lstStyle/>
          <a:p>
            <a:pPr algn="l"/>
            <a:r>
              <a:rPr sz="2200" b="1" i="0">
                <a:solidFill>
                  <a:srgbClr val="FFFFFF"/>
                </a:solidFill>
                <a:latin typeface="Calibri"/>
              </a:rPr>
              <a:t>42%</a:t>
            </a:r>
          </a:p>
        </p:txBody>
      </p:sp>
      <p:sp>
        <p:nvSpPr>
          <p:cNvPr id="21" name="Rectangle 20"/>
          <p:cNvSpPr/>
          <p:nvPr/>
        </p:nvSpPr>
        <p:spPr>
          <a:xfrm>
            <a:off x="9272016" y="4663440"/>
            <a:ext cx="2697480"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272016" y="4663440"/>
            <a:ext cx="73152" cy="10058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36608" y="4736592"/>
            <a:ext cx="2377440" cy="274320"/>
          </a:xfrm>
          <a:prstGeom prst="rect">
            <a:avLst/>
          </a:prstGeom>
          <a:noFill/>
        </p:spPr>
        <p:txBody>
          <a:bodyPr wrap="square">
            <a:spAutoFit/>
          </a:bodyPr>
          <a:lstStyle/>
          <a:p>
            <a:pPr algn="l"/>
            <a:r>
              <a:rPr sz="800" b="0" i="0">
                <a:solidFill>
                  <a:srgbClr val="CADCFC"/>
                </a:solidFill>
                <a:latin typeface="Calibri"/>
              </a:rPr>
              <a:t>Units Sold</a:t>
            </a:r>
          </a:p>
        </p:txBody>
      </p:sp>
      <p:sp>
        <p:nvSpPr>
          <p:cNvPr id="24" name="TextBox 23"/>
          <p:cNvSpPr txBox="1"/>
          <p:nvPr/>
        </p:nvSpPr>
        <p:spPr>
          <a:xfrm>
            <a:off x="9436608" y="4983480"/>
            <a:ext cx="2377440" cy="548640"/>
          </a:xfrm>
          <a:prstGeom prst="rect">
            <a:avLst/>
          </a:prstGeom>
          <a:noFill/>
        </p:spPr>
        <p:txBody>
          <a:bodyPr wrap="square">
            <a:spAutoFit/>
          </a:bodyPr>
          <a:lstStyle/>
          <a:p>
            <a:pPr algn="l"/>
            <a:r>
              <a:rPr sz="2200" b="1" i="0">
                <a:solidFill>
                  <a:srgbClr val="FFFFFF"/>
                </a:solidFill>
                <a:latin typeface="Calibri"/>
              </a:rPr>
              <a:t>5,547</a:t>
            </a:r>
          </a:p>
        </p:txBody>
      </p:sp>
      <p:sp>
        <p:nvSpPr>
          <p:cNvPr id="25" name="TextBox 24"/>
          <p:cNvSpPr txBox="1"/>
          <p:nvPr/>
        </p:nvSpPr>
        <p:spPr>
          <a:xfrm>
            <a:off x="548640" y="6309360"/>
            <a:ext cx="10972800" cy="320040"/>
          </a:xfrm>
          <a:prstGeom prst="rect">
            <a:avLst/>
          </a:prstGeom>
          <a:noFill/>
        </p:spPr>
        <p:txBody>
          <a:bodyPr wrap="square">
            <a:spAutoFit/>
          </a:bodyPr>
          <a:lstStyle/>
          <a:p>
            <a:pPr algn="l"/>
            <a:r>
              <a:rPr sz="900" b="0" i="0">
                <a:solidFill>
                  <a:srgbClr val="64748B"/>
                </a:solidFill>
                <a:latin typeface="Calibri"/>
              </a:rPr>
              <a:t>Prepared by: Data Analytics Team   |   April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502920"/>
          </a:xfrm>
          <a:prstGeom prst="rect">
            <a:avLst/>
          </a:prstGeom>
          <a:noFill/>
        </p:spPr>
        <p:txBody>
          <a:bodyPr wrap="square">
            <a:spAutoFit/>
          </a:bodyPr>
          <a:lstStyle/>
          <a:p>
            <a:pPr algn="l"/>
            <a:r>
              <a:rPr sz="2200" b="1" i="0">
                <a:solidFill>
                  <a:srgbClr val="FFFFFF"/>
                </a:solidFill>
                <a:latin typeface="Calibri"/>
              </a:rPr>
              <a:t>EXECUTIVE SUMMARY</a:t>
            </a:r>
          </a:p>
        </p:txBody>
      </p:sp>
      <p:sp>
        <p:nvSpPr>
          <p:cNvPr id="4" name="Rectangle 3"/>
          <p:cNvSpPr/>
          <p:nvPr/>
        </p:nvSpPr>
        <p:spPr>
          <a:xfrm>
            <a:off x="0" y="822960"/>
            <a:ext cx="73152" cy="60350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005840"/>
            <a:ext cx="5669280" cy="2286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05840"/>
            <a:ext cx="73152" cy="228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143000"/>
            <a:ext cx="5303520" cy="365760"/>
          </a:xfrm>
          <a:prstGeom prst="rect">
            <a:avLst/>
          </a:prstGeom>
          <a:noFill/>
        </p:spPr>
        <p:txBody>
          <a:bodyPr wrap="square">
            <a:spAutoFit/>
          </a:bodyPr>
          <a:lstStyle/>
          <a:p>
            <a:pPr algn="l"/>
            <a:r>
              <a:rPr sz="1200" b="1" i="0">
                <a:solidFill>
                  <a:srgbClr val="FFFFFF"/>
                </a:solidFill>
                <a:latin typeface="Calibri"/>
              </a:rPr>
              <a:t>💰  Revenue vs Profit Gap</a:t>
            </a:r>
          </a:p>
        </p:txBody>
      </p:sp>
      <p:sp>
        <p:nvSpPr>
          <p:cNvPr id="8" name="TextBox 7"/>
          <p:cNvSpPr txBox="1"/>
          <p:nvPr/>
        </p:nvSpPr>
        <p:spPr>
          <a:xfrm>
            <a:off x="566928" y="1554480"/>
            <a:ext cx="5257800" cy="1554480"/>
          </a:xfrm>
          <a:prstGeom prst="rect">
            <a:avLst/>
          </a:prstGeom>
          <a:noFill/>
        </p:spPr>
        <p:txBody>
          <a:bodyPr wrap="square">
            <a:spAutoFit/>
          </a:bodyPr>
          <a:lstStyle/>
          <a:p>
            <a:pPr algn="l"/>
            <a:r>
              <a:rPr sz="950" b="0" i="0">
                <a:solidFill>
                  <a:srgbClr val="CADCFC"/>
                </a:solidFill>
                <a:latin typeface="Calibri"/>
              </a:rPr>
              <a:t>The company generated ₦2.14bn in revenue but retained only ₦911M as profit — a 42% margin. While this is healthy, the ₦1.23bn cost base needs monitoring as volume grows.</a:t>
            </a:r>
          </a:p>
        </p:txBody>
      </p:sp>
      <p:sp>
        <p:nvSpPr>
          <p:cNvPr id="9" name="Rectangle 8"/>
          <p:cNvSpPr/>
          <p:nvPr/>
        </p:nvSpPr>
        <p:spPr>
          <a:xfrm>
            <a:off x="6309360" y="1005840"/>
            <a:ext cx="5669280" cy="2286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005840"/>
            <a:ext cx="73152" cy="228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8" y="1143000"/>
            <a:ext cx="5303520" cy="365760"/>
          </a:xfrm>
          <a:prstGeom prst="rect">
            <a:avLst/>
          </a:prstGeom>
          <a:noFill/>
        </p:spPr>
        <p:txBody>
          <a:bodyPr wrap="square">
            <a:spAutoFit/>
          </a:bodyPr>
          <a:lstStyle/>
          <a:p>
            <a:pPr algn="l"/>
            <a:r>
              <a:rPr sz="1200" b="1" i="0">
                <a:solidFill>
                  <a:srgbClr val="FFFFFF"/>
                </a:solidFill>
                <a:latin typeface="Calibri"/>
              </a:rPr>
              <a:t>🗺️  West Region Dominates</a:t>
            </a:r>
          </a:p>
        </p:txBody>
      </p:sp>
      <p:sp>
        <p:nvSpPr>
          <p:cNvPr id="12" name="TextBox 11"/>
          <p:cNvSpPr txBox="1"/>
          <p:nvPr/>
        </p:nvSpPr>
        <p:spPr>
          <a:xfrm>
            <a:off x="6510528" y="1554480"/>
            <a:ext cx="5257800" cy="1554480"/>
          </a:xfrm>
          <a:prstGeom prst="rect">
            <a:avLst/>
          </a:prstGeom>
          <a:noFill/>
        </p:spPr>
        <p:txBody>
          <a:bodyPr wrap="square">
            <a:spAutoFit/>
          </a:bodyPr>
          <a:lstStyle/>
          <a:p>
            <a:pPr algn="l"/>
            <a:r>
              <a:rPr sz="950" b="0" i="0">
                <a:solidFill>
                  <a:srgbClr val="CADCFC"/>
                </a:solidFill>
                <a:latin typeface="Calibri"/>
              </a:rPr>
              <a:t>The West region leads all five regions in both sales and profit, driven largely by Lagos. The South region recorded the lowest performance and requires a targeted growth strategy.</a:t>
            </a:r>
          </a:p>
        </p:txBody>
      </p:sp>
      <p:sp>
        <p:nvSpPr>
          <p:cNvPr id="13" name="Rectangle 12"/>
          <p:cNvSpPr/>
          <p:nvPr/>
        </p:nvSpPr>
        <p:spPr>
          <a:xfrm>
            <a:off x="365760" y="3474720"/>
            <a:ext cx="5669280" cy="2286000"/>
          </a:xfrm>
          <a:prstGeom prst="rect">
            <a:avLst/>
          </a:prstGeom>
          <a:solidFill>
            <a:srgbClr val="06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3474720"/>
            <a:ext cx="73152" cy="228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3611880"/>
            <a:ext cx="5303520" cy="365760"/>
          </a:xfrm>
          <a:prstGeom prst="rect">
            <a:avLst/>
          </a:prstGeom>
          <a:noFill/>
        </p:spPr>
        <p:txBody>
          <a:bodyPr wrap="square">
            <a:spAutoFit/>
          </a:bodyPr>
          <a:lstStyle/>
          <a:p>
            <a:pPr algn="l"/>
            <a:r>
              <a:rPr sz="1200" b="1" i="0">
                <a:solidFill>
                  <a:srgbClr val="FFFFFF"/>
                </a:solidFill>
                <a:latin typeface="Calibri"/>
              </a:rPr>
              <a:t>🏷️  Discounts Are Not the Problem</a:t>
            </a:r>
          </a:p>
        </p:txBody>
      </p:sp>
      <p:sp>
        <p:nvSpPr>
          <p:cNvPr id="16" name="TextBox 15"/>
          <p:cNvSpPr txBox="1"/>
          <p:nvPr/>
        </p:nvSpPr>
        <p:spPr>
          <a:xfrm>
            <a:off x="566928" y="4023360"/>
            <a:ext cx="5257800" cy="1554480"/>
          </a:xfrm>
          <a:prstGeom prst="rect">
            <a:avLst/>
          </a:prstGeom>
          <a:noFill/>
        </p:spPr>
        <p:txBody>
          <a:bodyPr wrap="square">
            <a:spAutoFit/>
          </a:bodyPr>
          <a:lstStyle/>
          <a:p>
            <a:pPr algn="l"/>
            <a:r>
              <a:rPr sz="950" b="0" i="0">
                <a:solidFill>
                  <a:srgbClr val="CADCFC"/>
                </a:solidFill>
                <a:latin typeface="Calibri"/>
              </a:rPr>
              <a:t>Margins remain consistent at 41–44% across all discount levels from 0% to 20%. Discounting is not significantly hurting profitability — the pricing structure absorbs discounts well.</a:t>
            </a:r>
          </a:p>
        </p:txBody>
      </p:sp>
      <p:sp>
        <p:nvSpPr>
          <p:cNvPr id="17" name="Rectangle 16"/>
          <p:cNvSpPr/>
          <p:nvPr/>
        </p:nvSpPr>
        <p:spPr>
          <a:xfrm>
            <a:off x="6309360" y="3474720"/>
            <a:ext cx="5669280" cy="2286000"/>
          </a:xfrm>
          <a:prstGeom prst="rect">
            <a:avLst/>
          </a:prstGeom>
          <a:solidFill>
            <a:srgbClr val="3B0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60" y="3474720"/>
            <a:ext cx="73152" cy="228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8" y="3611880"/>
            <a:ext cx="5303520" cy="365760"/>
          </a:xfrm>
          <a:prstGeom prst="rect">
            <a:avLst/>
          </a:prstGeom>
          <a:noFill/>
        </p:spPr>
        <p:txBody>
          <a:bodyPr wrap="square">
            <a:spAutoFit/>
          </a:bodyPr>
          <a:lstStyle/>
          <a:p>
            <a:pPr algn="l"/>
            <a:r>
              <a:rPr sz="1200" b="1" i="0">
                <a:solidFill>
                  <a:srgbClr val="FFFFFF"/>
                </a:solidFill>
                <a:latin typeface="Calibri"/>
              </a:rPr>
              <a:t>📱  Channels Are Balanced — No Clear Winner</a:t>
            </a:r>
          </a:p>
        </p:txBody>
      </p:sp>
      <p:sp>
        <p:nvSpPr>
          <p:cNvPr id="20" name="TextBox 19"/>
          <p:cNvSpPr txBox="1"/>
          <p:nvPr/>
        </p:nvSpPr>
        <p:spPr>
          <a:xfrm>
            <a:off x="6510528" y="4023360"/>
            <a:ext cx="5257800" cy="1554480"/>
          </a:xfrm>
          <a:prstGeom prst="rect">
            <a:avLst/>
          </a:prstGeom>
          <a:noFill/>
        </p:spPr>
        <p:txBody>
          <a:bodyPr wrap="square">
            <a:spAutoFit/>
          </a:bodyPr>
          <a:lstStyle/>
          <a:p>
            <a:pPr algn="l"/>
            <a:r>
              <a:rPr sz="950" b="0" i="0">
                <a:solidFill>
                  <a:srgbClr val="CADCFC"/>
                </a:solidFill>
                <a:latin typeface="Calibri"/>
              </a:rPr>
              <a:t>In-Store (34.78%), Online (33.88%), and Mobile App (31.34%) are nearly equal in revenue contribution. No single channel dominates — investment should be distributed evenly.</a:t>
            </a:r>
          </a:p>
        </p:txBody>
      </p:sp>
      <p:sp>
        <p:nvSpPr>
          <p:cNvPr id="21" name="TextBox 20"/>
          <p:cNvSpPr txBox="1"/>
          <p:nvPr/>
        </p:nvSpPr>
        <p:spPr>
          <a:xfrm>
            <a:off x="365760" y="6355080"/>
            <a:ext cx="11430000" cy="365760"/>
          </a:xfrm>
          <a:prstGeom prst="rect">
            <a:avLst/>
          </a:prstGeom>
          <a:noFill/>
        </p:spPr>
        <p:txBody>
          <a:bodyPr wrap="square">
            <a:spAutoFit/>
          </a:bodyPr>
          <a:lstStyle/>
          <a:p>
            <a:pPr algn="l"/>
            <a:r>
              <a:rPr sz="900" b="0" i="1">
                <a:solidFill>
                  <a:srgbClr val="64748B"/>
                </a:solidFill>
                <a:latin typeface="Calibri"/>
              </a:rPr>
              <a:t>These four findings form the basis of all recommendations on the final slide.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7315200" cy="502920"/>
          </a:xfrm>
          <a:prstGeom prst="rect">
            <a:avLst/>
          </a:prstGeom>
          <a:noFill/>
        </p:spPr>
        <p:txBody>
          <a:bodyPr wrap="square">
            <a:spAutoFit/>
          </a:bodyPr>
          <a:lstStyle/>
          <a:p>
            <a:pPr algn="l"/>
            <a:r>
              <a:rPr sz="2200" b="1" i="0">
                <a:solidFill>
                  <a:srgbClr val="FFFFFF"/>
                </a:solidFill>
                <a:latin typeface="Calibri"/>
              </a:rPr>
              <a:t>SALES OVERVIEW</a:t>
            </a:r>
          </a:p>
        </p:txBody>
      </p:sp>
      <p:sp>
        <p:nvSpPr>
          <p:cNvPr id="4" name="TextBox 3"/>
          <p:cNvSpPr txBox="1"/>
          <p:nvPr/>
        </p:nvSpPr>
        <p:spPr>
          <a:xfrm>
            <a:off x="8686800" y="228600"/>
            <a:ext cx="3200400" cy="365760"/>
          </a:xfrm>
          <a:prstGeom prst="rect">
            <a:avLst/>
          </a:prstGeom>
          <a:noFill/>
        </p:spPr>
        <p:txBody>
          <a:bodyPr wrap="square">
            <a:spAutoFit/>
          </a:bodyPr>
          <a:lstStyle/>
          <a:p>
            <a:pPr algn="r"/>
            <a:r>
              <a:rPr sz="1000" b="0" i="0">
                <a:solidFill>
                  <a:srgbClr val="CADCFC"/>
                </a:solidFill>
                <a:latin typeface="Calibri"/>
              </a:rPr>
              <a:t>Page 1 of Dashboard</a:t>
            </a:r>
          </a:p>
        </p:txBody>
      </p:sp>
      <p:sp>
        <p:nvSpPr>
          <p:cNvPr id="5" name="Rectangle 4"/>
          <p:cNvSpPr/>
          <p:nvPr/>
        </p:nvSpPr>
        <p:spPr>
          <a:xfrm>
            <a:off x="448056" y="960120"/>
            <a:ext cx="2148840" cy="10515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48056" y="960120"/>
            <a:ext cx="64008" cy="105156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4" y="1005840"/>
            <a:ext cx="1947672" cy="274320"/>
          </a:xfrm>
          <a:prstGeom prst="rect">
            <a:avLst/>
          </a:prstGeom>
          <a:noFill/>
        </p:spPr>
        <p:txBody>
          <a:bodyPr wrap="square">
            <a:spAutoFit/>
          </a:bodyPr>
          <a:lstStyle/>
          <a:p>
            <a:pPr algn="l"/>
            <a:r>
              <a:rPr sz="750" b="0" i="0">
                <a:solidFill>
                  <a:srgbClr val="CADCFC"/>
                </a:solidFill>
                <a:latin typeface="Calibri"/>
              </a:rPr>
              <a:t>Total Revenue</a:t>
            </a:r>
          </a:p>
        </p:txBody>
      </p:sp>
      <p:sp>
        <p:nvSpPr>
          <p:cNvPr id="8" name="TextBox 7"/>
          <p:cNvSpPr txBox="1"/>
          <p:nvPr/>
        </p:nvSpPr>
        <p:spPr>
          <a:xfrm>
            <a:off x="603504" y="1261872"/>
            <a:ext cx="1947672" cy="502920"/>
          </a:xfrm>
          <a:prstGeom prst="rect">
            <a:avLst/>
          </a:prstGeom>
          <a:noFill/>
        </p:spPr>
        <p:txBody>
          <a:bodyPr wrap="square">
            <a:spAutoFit/>
          </a:bodyPr>
          <a:lstStyle/>
          <a:p>
            <a:pPr algn="l"/>
            <a:r>
              <a:rPr sz="1900" b="1" i="0">
                <a:solidFill>
                  <a:srgbClr val="FFFFFF"/>
                </a:solidFill>
                <a:latin typeface="Calibri"/>
              </a:rPr>
              <a:t>₦2.14bn</a:t>
            </a:r>
          </a:p>
        </p:txBody>
      </p:sp>
      <p:sp>
        <p:nvSpPr>
          <p:cNvPr id="9" name="TextBox 8"/>
          <p:cNvSpPr txBox="1"/>
          <p:nvPr/>
        </p:nvSpPr>
        <p:spPr>
          <a:xfrm>
            <a:off x="603504" y="1719072"/>
            <a:ext cx="1947672" cy="228600"/>
          </a:xfrm>
          <a:prstGeom prst="rect">
            <a:avLst/>
          </a:prstGeom>
          <a:noFill/>
        </p:spPr>
        <p:txBody>
          <a:bodyPr wrap="square">
            <a:spAutoFit/>
          </a:bodyPr>
          <a:lstStyle/>
          <a:p>
            <a:pPr algn="l"/>
            <a:r>
              <a:rPr sz="650" b="0" i="0">
                <a:solidFill>
                  <a:srgbClr val="64748B"/>
                </a:solidFill>
                <a:latin typeface="Calibri"/>
              </a:rPr>
              <a:t>Jan 2023 — Dec 2024</a:t>
            </a:r>
          </a:p>
        </p:txBody>
      </p:sp>
      <p:sp>
        <p:nvSpPr>
          <p:cNvPr id="10" name="Rectangle 9"/>
          <p:cNvSpPr/>
          <p:nvPr/>
        </p:nvSpPr>
        <p:spPr>
          <a:xfrm>
            <a:off x="2734056" y="960120"/>
            <a:ext cx="2148840" cy="10515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34056" y="960120"/>
            <a:ext cx="64008" cy="105156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9504" y="1005840"/>
            <a:ext cx="1947672" cy="274320"/>
          </a:xfrm>
          <a:prstGeom prst="rect">
            <a:avLst/>
          </a:prstGeom>
          <a:noFill/>
        </p:spPr>
        <p:txBody>
          <a:bodyPr wrap="square">
            <a:spAutoFit/>
          </a:bodyPr>
          <a:lstStyle/>
          <a:p>
            <a:pPr algn="l"/>
            <a:r>
              <a:rPr sz="750" b="0" i="0">
                <a:solidFill>
                  <a:srgbClr val="CADCFC"/>
                </a:solidFill>
                <a:latin typeface="Calibri"/>
              </a:rPr>
              <a:t>Total Profit</a:t>
            </a:r>
          </a:p>
        </p:txBody>
      </p:sp>
      <p:sp>
        <p:nvSpPr>
          <p:cNvPr id="13" name="TextBox 12"/>
          <p:cNvSpPr txBox="1"/>
          <p:nvPr/>
        </p:nvSpPr>
        <p:spPr>
          <a:xfrm>
            <a:off x="2889504" y="1261872"/>
            <a:ext cx="1947672" cy="502920"/>
          </a:xfrm>
          <a:prstGeom prst="rect">
            <a:avLst/>
          </a:prstGeom>
          <a:noFill/>
        </p:spPr>
        <p:txBody>
          <a:bodyPr wrap="square">
            <a:spAutoFit/>
          </a:bodyPr>
          <a:lstStyle/>
          <a:p>
            <a:pPr algn="l"/>
            <a:r>
              <a:rPr sz="1900" b="1" i="0">
                <a:solidFill>
                  <a:srgbClr val="FFFFFF"/>
                </a:solidFill>
                <a:latin typeface="Calibri"/>
              </a:rPr>
              <a:t>₦911.38M</a:t>
            </a:r>
          </a:p>
        </p:txBody>
      </p:sp>
      <p:sp>
        <p:nvSpPr>
          <p:cNvPr id="14" name="TextBox 13"/>
          <p:cNvSpPr txBox="1"/>
          <p:nvPr/>
        </p:nvSpPr>
        <p:spPr>
          <a:xfrm>
            <a:off x="2889504" y="1719072"/>
            <a:ext cx="1947672" cy="228600"/>
          </a:xfrm>
          <a:prstGeom prst="rect">
            <a:avLst/>
          </a:prstGeom>
          <a:noFill/>
        </p:spPr>
        <p:txBody>
          <a:bodyPr wrap="square">
            <a:spAutoFit/>
          </a:bodyPr>
          <a:lstStyle/>
          <a:p>
            <a:pPr algn="l"/>
            <a:r>
              <a:rPr sz="650" b="0" i="0">
                <a:solidFill>
                  <a:srgbClr val="64748B"/>
                </a:solidFill>
                <a:latin typeface="Calibri"/>
              </a:rPr>
              <a:t>After all costs deducted</a:t>
            </a:r>
          </a:p>
        </p:txBody>
      </p:sp>
      <p:sp>
        <p:nvSpPr>
          <p:cNvPr id="15" name="Rectangle 14"/>
          <p:cNvSpPr/>
          <p:nvPr/>
        </p:nvSpPr>
        <p:spPr>
          <a:xfrm>
            <a:off x="5020056" y="960120"/>
            <a:ext cx="2148840" cy="10515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0056" y="960120"/>
            <a:ext cx="64008" cy="105156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75504" y="1005840"/>
            <a:ext cx="1947672" cy="274320"/>
          </a:xfrm>
          <a:prstGeom prst="rect">
            <a:avLst/>
          </a:prstGeom>
          <a:noFill/>
        </p:spPr>
        <p:txBody>
          <a:bodyPr wrap="square">
            <a:spAutoFit/>
          </a:bodyPr>
          <a:lstStyle/>
          <a:p>
            <a:pPr algn="l"/>
            <a:r>
              <a:rPr sz="750" b="0" i="0">
                <a:solidFill>
                  <a:srgbClr val="CADCFC"/>
                </a:solidFill>
                <a:latin typeface="Calibri"/>
              </a:rPr>
              <a:t>Total Cost</a:t>
            </a:r>
          </a:p>
        </p:txBody>
      </p:sp>
      <p:sp>
        <p:nvSpPr>
          <p:cNvPr id="18" name="TextBox 17"/>
          <p:cNvSpPr txBox="1"/>
          <p:nvPr/>
        </p:nvSpPr>
        <p:spPr>
          <a:xfrm>
            <a:off x="5175504" y="1261872"/>
            <a:ext cx="1947672" cy="502920"/>
          </a:xfrm>
          <a:prstGeom prst="rect">
            <a:avLst/>
          </a:prstGeom>
          <a:noFill/>
        </p:spPr>
        <p:txBody>
          <a:bodyPr wrap="square">
            <a:spAutoFit/>
          </a:bodyPr>
          <a:lstStyle/>
          <a:p>
            <a:pPr algn="l"/>
            <a:r>
              <a:rPr sz="1900" b="1" i="0">
                <a:solidFill>
                  <a:srgbClr val="FFFFFF"/>
                </a:solidFill>
                <a:latin typeface="Calibri"/>
              </a:rPr>
              <a:t>₦1.23bn</a:t>
            </a:r>
          </a:p>
        </p:txBody>
      </p:sp>
      <p:sp>
        <p:nvSpPr>
          <p:cNvPr id="19" name="TextBox 18"/>
          <p:cNvSpPr txBox="1"/>
          <p:nvPr/>
        </p:nvSpPr>
        <p:spPr>
          <a:xfrm>
            <a:off x="5175504" y="1719072"/>
            <a:ext cx="1947672" cy="228600"/>
          </a:xfrm>
          <a:prstGeom prst="rect">
            <a:avLst/>
          </a:prstGeom>
          <a:noFill/>
        </p:spPr>
        <p:txBody>
          <a:bodyPr wrap="square">
            <a:spAutoFit/>
          </a:bodyPr>
          <a:lstStyle/>
          <a:p>
            <a:pPr algn="l"/>
            <a:r>
              <a:rPr sz="650" b="0" i="0">
                <a:solidFill>
                  <a:srgbClr val="64748B"/>
                </a:solidFill>
                <a:latin typeface="Calibri"/>
              </a:rPr>
              <a:t>COGS across all categories</a:t>
            </a:r>
          </a:p>
        </p:txBody>
      </p:sp>
      <p:sp>
        <p:nvSpPr>
          <p:cNvPr id="20" name="Rectangle 19"/>
          <p:cNvSpPr/>
          <p:nvPr/>
        </p:nvSpPr>
        <p:spPr>
          <a:xfrm>
            <a:off x="7306056" y="960120"/>
            <a:ext cx="2148840" cy="10515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06056" y="960120"/>
            <a:ext cx="64008" cy="105156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61504" y="1005840"/>
            <a:ext cx="1947672" cy="274320"/>
          </a:xfrm>
          <a:prstGeom prst="rect">
            <a:avLst/>
          </a:prstGeom>
          <a:noFill/>
        </p:spPr>
        <p:txBody>
          <a:bodyPr wrap="square">
            <a:spAutoFit/>
          </a:bodyPr>
          <a:lstStyle/>
          <a:p>
            <a:pPr algn="l"/>
            <a:r>
              <a:rPr sz="750" b="0" i="0">
                <a:solidFill>
                  <a:srgbClr val="CADCFC"/>
                </a:solidFill>
                <a:latin typeface="Calibri"/>
              </a:rPr>
              <a:t>Avg Margin</a:t>
            </a:r>
          </a:p>
        </p:txBody>
      </p:sp>
      <p:sp>
        <p:nvSpPr>
          <p:cNvPr id="23" name="TextBox 22"/>
          <p:cNvSpPr txBox="1"/>
          <p:nvPr/>
        </p:nvSpPr>
        <p:spPr>
          <a:xfrm>
            <a:off x="7461504" y="1261872"/>
            <a:ext cx="1947672" cy="502920"/>
          </a:xfrm>
          <a:prstGeom prst="rect">
            <a:avLst/>
          </a:prstGeom>
          <a:noFill/>
        </p:spPr>
        <p:txBody>
          <a:bodyPr wrap="square">
            <a:spAutoFit/>
          </a:bodyPr>
          <a:lstStyle/>
          <a:p>
            <a:pPr algn="l"/>
            <a:r>
              <a:rPr sz="1900" b="1" i="0">
                <a:solidFill>
                  <a:srgbClr val="FFFFFF"/>
                </a:solidFill>
                <a:latin typeface="Calibri"/>
              </a:rPr>
              <a:t>42%</a:t>
            </a:r>
          </a:p>
        </p:txBody>
      </p:sp>
      <p:sp>
        <p:nvSpPr>
          <p:cNvPr id="24" name="TextBox 23"/>
          <p:cNvSpPr txBox="1"/>
          <p:nvPr/>
        </p:nvSpPr>
        <p:spPr>
          <a:xfrm>
            <a:off x="7461504" y="1719072"/>
            <a:ext cx="1947672" cy="228600"/>
          </a:xfrm>
          <a:prstGeom prst="rect">
            <a:avLst/>
          </a:prstGeom>
          <a:noFill/>
        </p:spPr>
        <p:txBody>
          <a:bodyPr wrap="square">
            <a:spAutoFit/>
          </a:bodyPr>
          <a:lstStyle/>
          <a:p>
            <a:pPr algn="l"/>
            <a:r>
              <a:rPr sz="650" b="0" i="0">
                <a:solidFill>
                  <a:srgbClr val="64748B"/>
                </a:solidFill>
                <a:latin typeface="Calibri"/>
              </a:rPr>
              <a:t>Across all transactions</a:t>
            </a:r>
          </a:p>
        </p:txBody>
      </p:sp>
      <p:sp>
        <p:nvSpPr>
          <p:cNvPr id="25" name="Rectangle 24"/>
          <p:cNvSpPr/>
          <p:nvPr/>
        </p:nvSpPr>
        <p:spPr>
          <a:xfrm>
            <a:off x="9592056" y="960120"/>
            <a:ext cx="2148840" cy="10515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592056" y="960120"/>
            <a:ext cx="64008" cy="105156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47504" y="1005840"/>
            <a:ext cx="1947672" cy="274320"/>
          </a:xfrm>
          <a:prstGeom prst="rect">
            <a:avLst/>
          </a:prstGeom>
          <a:noFill/>
        </p:spPr>
        <p:txBody>
          <a:bodyPr wrap="square">
            <a:spAutoFit/>
          </a:bodyPr>
          <a:lstStyle/>
          <a:p>
            <a:pPr algn="l"/>
            <a:r>
              <a:rPr sz="750" b="0" i="0">
                <a:solidFill>
                  <a:srgbClr val="CADCFC"/>
                </a:solidFill>
                <a:latin typeface="Calibri"/>
              </a:rPr>
              <a:t>Units Sold</a:t>
            </a:r>
          </a:p>
        </p:txBody>
      </p:sp>
      <p:sp>
        <p:nvSpPr>
          <p:cNvPr id="28" name="TextBox 27"/>
          <p:cNvSpPr txBox="1"/>
          <p:nvPr/>
        </p:nvSpPr>
        <p:spPr>
          <a:xfrm>
            <a:off x="9747504" y="1261872"/>
            <a:ext cx="1947672" cy="502920"/>
          </a:xfrm>
          <a:prstGeom prst="rect">
            <a:avLst/>
          </a:prstGeom>
          <a:noFill/>
        </p:spPr>
        <p:txBody>
          <a:bodyPr wrap="square">
            <a:spAutoFit/>
          </a:bodyPr>
          <a:lstStyle/>
          <a:p>
            <a:pPr algn="l"/>
            <a:r>
              <a:rPr sz="1900" b="1" i="0">
                <a:solidFill>
                  <a:srgbClr val="FFFFFF"/>
                </a:solidFill>
                <a:latin typeface="Calibri"/>
              </a:rPr>
              <a:t>5,547</a:t>
            </a:r>
          </a:p>
        </p:txBody>
      </p:sp>
      <p:sp>
        <p:nvSpPr>
          <p:cNvPr id="29" name="TextBox 28"/>
          <p:cNvSpPr txBox="1"/>
          <p:nvPr/>
        </p:nvSpPr>
        <p:spPr>
          <a:xfrm>
            <a:off x="9747504" y="1719072"/>
            <a:ext cx="1947672" cy="228600"/>
          </a:xfrm>
          <a:prstGeom prst="rect">
            <a:avLst/>
          </a:prstGeom>
          <a:noFill/>
        </p:spPr>
        <p:txBody>
          <a:bodyPr wrap="square">
            <a:spAutoFit/>
          </a:bodyPr>
          <a:lstStyle/>
          <a:p>
            <a:pPr algn="l"/>
            <a:r>
              <a:rPr sz="650" b="0" i="0">
                <a:solidFill>
                  <a:srgbClr val="64748B"/>
                </a:solidFill>
                <a:latin typeface="Calibri"/>
              </a:rPr>
              <a:t>Total quantity across 2 years</a:t>
            </a:r>
          </a:p>
        </p:txBody>
      </p:sp>
      <p:sp>
        <p:nvSpPr>
          <p:cNvPr id="30" name="Rectangle 29"/>
          <p:cNvSpPr/>
          <p:nvPr/>
        </p:nvSpPr>
        <p:spPr>
          <a:xfrm>
            <a:off x="365760" y="2240280"/>
            <a:ext cx="548640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5760" y="2240280"/>
            <a:ext cx="64008" cy="42976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2331720"/>
            <a:ext cx="5120640" cy="365760"/>
          </a:xfrm>
          <a:prstGeom prst="rect">
            <a:avLst/>
          </a:prstGeom>
          <a:noFill/>
        </p:spPr>
        <p:txBody>
          <a:bodyPr wrap="square">
            <a:spAutoFit/>
          </a:bodyPr>
          <a:lstStyle/>
          <a:p>
            <a:pPr algn="l"/>
            <a:r>
              <a:rPr sz="1200" b="1" i="0">
                <a:solidFill>
                  <a:srgbClr val="1E2761"/>
                </a:solidFill>
                <a:latin typeface="Calibri"/>
              </a:rPr>
              <a:t>📊  Category Performance</a:t>
            </a:r>
          </a:p>
        </p:txBody>
      </p:sp>
      <p:sp>
        <p:nvSpPr>
          <p:cNvPr id="33" name="TextBox 32"/>
          <p:cNvSpPr txBox="1"/>
          <p:nvPr/>
        </p:nvSpPr>
        <p:spPr>
          <a:xfrm>
            <a:off x="548640" y="2788920"/>
            <a:ext cx="5212080" cy="548640"/>
          </a:xfrm>
          <a:prstGeom prst="rect">
            <a:avLst/>
          </a:prstGeom>
          <a:noFill/>
        </p:spPr>
        <p:txBody>
          <a:bodyPr wrap="square">
            <a:spAutoFit/>
          </a:bodyPr>
          <a:lstStyle/>
          <a:p>
            <a:pPr algn="l"/>
            <a:r>
              <a:rPr sz="950" b="0" i="0">
                <a:solidFill>
                  <a:srgbClr val="1A1A2E"/>
                </a:solidFill>
                <a:latin typeface="Calibri"/>
              </a:rPr>
              <a:t>▸  Furniture leads all categories with the highest revenue and profit</a:t>
            </a:r>
          </a:p>
        </p:txBody>
      </p:sp>
      <p:sp>
        <p:nvSpPr>
          <p:cNvPr id="34" name="TextBox 33"/>
          <p:cNvSpPr txBox="1"/>
          <p:nvPr/>
        </p:nvSpPr>
        <p:spPr>
          <a:xfrm>
            <a:off x="548640" y="3447287"/>
            <a:ext cx="5212080" cy="548640"/>
          </a:xfrm>
          <a:prstGeom prst="rect">
            <a:avLst/>
          </a:prstGeom>
          <a:noFill/>
        </p:spPr>
        <p:txBody>
          <a:bodyPr wrap="square">
            <a:spAutoFit/>
          </a:bodyPr>
          <a:lstStyle/>
          <a:p>
            <a:pPr algn="l"/>
            <a:r>
              <a:rPr sz="950" b="0" i="0">
                <a:solidFill>
                  <a:srgbClr val="1A1A2E"/>
                </a:solidFill>
                <a:latin typeface="Calibri"/>
              </a:rPr>
              <a:t>▸  Sports ranks second in sales volume despite fewer product lines</a:t>
            </a:r>
          </a:p>
        </p:txBody>
      </p:sp>
      <p:sp>
        <p:nvSpPr>
          <p:cNvPr id="35" name="TextBox 34"/>
          <p:cNvSpPr txBox="1"/>
          <p:nvPr/>
        </p:nvSpPr>
        <p:spPr>
          <a:xfrm>
            <a:off x="548640" y="4105656"/>
            <a:ext cx="5212080" cy="548640"/>
          </a:xfrm>
          <a:prstGeom prst="rect">
            <a:avLst/>
          </a:prstGeom>
          <a:noFill/>
        </p:spPr>
        <p:txBody>
          <a:bodyPr wrap="square">
            <a:spAutoFit/>
          </a:bodyPr>
          <a:lstStyle/>
          <a:p>
            <a:pPr algn="l"/>
            <a:r>
              <a:rPr sz="950" b="0" i="0">
                <a:solidFill>
                  <a:srgbClr val="1A1A2E"/>
                </a:solidFill>
                <a:latin typeface="Calibri"/>
              </a:rPr>
              <a:t>▸  Electronics delivers strong revenue but at slightly lower margins</a:t>
            </a:r>
          </a:p>
        </p:txBody>
      </p:sp>
      <p:sp>
        <p:nvSpPr>
          <p:cNvPr id="36" name="TextBox 35"/>
          <p:cNvSpPr txBox="1"/>
          <p:nvPr/>
        </p:nvSpPr>
        <p:spPr>
          <a:xfrm>
            <a:off x="548640" y="4764024"/>
            <a:ext cx="5212080" cy="548640"/>
          </a:xfrm>
          <a:prstGeom prst="rect">
            <a:avLst/>
          </a:prstGeom>
          <a:noFill/>
        </p:spPr>
        <p:txBody>
          <a:bodyPr wrap="square">
            <a:spAutoFit/>
          </a:bodyPr>
          <a:lstStyle/>
          <a:p>
            <a:pPr algn="l"/>
            <a:r>
              <a:rPr sz="950" b="0" i="0">
                <a:solidFill>
                  <a:srgbClr val="1A1A2E"/>
                </a:solidFill>
                <a:latin typeface="Calibri"/>
              </a:rPr>
              <a:t>▸  Groceries significantly underperforms all other categories</a:t>
            </a:r>
          </a:p>
        </p:txBody>
      </p:sp>
      <p:sp>
        <p:nvSpPr>
          <p:cNvPr id="37" name="TextBox 36"/>
          <p:cNvSpPr txBox="1"/>
          <p:nvPr/>
        </p:nvSpPr>
        <p:spPr>
          <a:xfrm>
            <a:off x="548640" y="5422392"/>
            <a:ext cx="5212080" cy="548640"/>
          </a:xfrm>
          <a:prstGeom prst="rect">
            <a:avLst/>
          </a:prstGeom>
          <a:noFill/>
        </p:spPr>
        <p:txBody>
          <a:bodyPr wrap="square">
            <a:spAutoFit/>
          </a:bodyPr>
          <a:lstStyle/>
          <a:p>
            <a:pPr algn="l"/>
            <a:r>
              <a:rPr sz="950" b="0" i="0">
                <a:solidFill>
                  <a:srgbClr val="1A1A2E"/>
                </a:solidFill>
                <a:latin typeface="Calibri"/>
              </a:rPr>
              <a:t>▸  Clothing shows balanced performance — mid-tier across all metrics</a:t>
            </a:r>
          </a:p>
        </p:txBody>
      </p:sp>
      <p:sp>
        <p:nvSpPr>
          <p:cNvPr id="38" name="Rectangle 37"/>
          <p:cNvSpPr/>
          <p:nvPr/>
        </p:nvSpPr>
        <p:spPr>
          <a:xfrm>
            <a:off x="6309360" y="2240280"/>
            <a:ext cx="548640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309360" y="2240280"/>
            <a:ext cx="64008" cy="42976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92240" y="2331720"/>
            <a:ext cx="5120640" cy="365760"/>
          </a:xfrm>
          <a:prstGeom prst="rect">
            <a:avLst/>
          </a:prstGeom>
          <a:noFill/>
        </p:spPr>
        <p:txBody>
          <a:bodyPr wrap="square">
            <a:spAutoFit/>
          </a:bodyPr>
          <a:lstStyle/>
          <a:p>
            <a:pPr algn="l"/>
            <a:r>
              <a:rPr sz="1200" b="1" i="0">
                <a:solidFill>
                  <a:srgbClr val="1E2761"/>
                </a:solidFill>
                <a:latin typeface="Calibri"/>
              </a:rPr>
              <a:t>📅  Monthly Trend Insights</a:t>
            </a:r>
          </a:p>
        </p:txBody>
      </p:sp>
      <p:sp>
        <p:nvSpPr>
          <p:cNvPr id="41" name="TextBox 40"/>
          <p:cNvSpPr txBox="1"/>
          <p:nvPr/>
        </p:nvSpPr>
        <p:spPr>
          <a:xfrm>
            <a:off x="6492240" y="2788920"/>
            <a:ext cx="5212080" cy="548640"/>
          </a:xfrm>
          <a:prstGeom prst="rect">
            <a:avLst/>
          </a:prstGeom>
          <a:noFill/>
        </p:spPr>
        <p:txBody>
          <a:bodyPr wrap="square">
            <a:spAutoFit/>
          </a:bodyPr>
          <a:lstStyle/>
          <a:p>
            <a:pPr algn="l"/>
            <a:r>
              <a:rPr sz="950" b="0" i="0">
                <a:solidFill>
                  <a:srgbClr val="1A1A2E"/>
                </a:solidFill>
                <a:latin typeface="Calibri"/>
              </a:rPr>
              <a:t>▸  Revenue and Profit move together — margin stays consistent monthly</a:t>
            </a:r>
          </a:p>
        </p:txBody>
      </p:sp>
      <p:sp>
        <p:nvSpPr>
          <p:cNvPr id="42" name="TextBox 41"/>
          <p:cNvSpPr txBox="1"/>
          <p:nvPr/>
        </p:nvSpPr>
        <p:spPr>
          <a:xfrm>
            <a:off x="6492240" y="3447287"/>
            <a:ext cx="5212080" cy="548640"/>
          </a:xfrm>
          <a:prstGeom prst="rect">
            <a:avLst/>
          </a:prstGeom>
          <a:noFill/>
        </p:spPr>
        <p:txBody>
          <a:bodyPr wrap="square">
            <a:spAutoFit/>
          </a:bodyPr>
          <a:lstStyle/>
          <a:p>
            <a:pPr algn="l"/>
            <a:r>
              <a:rPr sz="950" b="0" i="0">
                <a:solidFill>
                  <a:srgbClr val="1A1A2E"/>
                </a:solidFill>
                <a:latin typeface="Calibri"/>
              </a:rPr>
              <a:t>▸  August and September show the strongest peaks in both years</a:t>
            </a:r>
          </a:p>
        </p:txBody>
      </p:sp>
      <p:sp>
        <p:nvSpPr>
          <p:cNvPr id="43" name="TextBox 42"/>
          <p:cNvSpPr txBox="1"/>
          <p:nvPr/>
        </p:nvSpPr>
        <p:spPr>
          <a:xfrm>
            <a:off x="6492240" y="4105656"/>
            <a:ext cx="5212080" cy="548640"/>
          </a:xfrm>
          <a:prstGeom prst="rect">
            <a:avLst/>
          </a:prstGeom>
          <a:noFill/>
        </p:spPr>
        <p:txBody>
          <a:bodyPr wrap="square">
            <a:spAutoFit/>
          </a:bodyPr>
          <a:lstStyle/>
          <a:p>
            <a:pPr algn="l"/>
            <a:r>
              <a:rPr sz="950" b="0" i="0">
                <a:solidFill>
                  <a:srgbClr val="1A1A2E"/>
                </a:solidFill>
                <a:latin typeface="Calibri"/>
              </a:rPr>
              <a:t>▸  February records the lowest performance consistently in both years</a:t>
            </a:r>
          </a:p>
        </p:txBody>
      </p:sp>
      <p:sp>
        <p:nvSpPr>
          <p:cNvPr id="44" name="TextBox 43"/>
          <p:cNvSpPr txBox="1"/>
          <p:nvPr/>
        </p:nvSpPr>
        <p:spPr>
          <a:xfrm>
            <a:off x="6492240" y="4764024"/>
            <a:ext cx="5212080" cy="548640"/>
          </a:xfrm>
          <a:prstGeom prst="rect">
            <a:avLst/>
          </a:prstGeom>
          <a:noFill/>
        </p:spPr>
        <p:txBody>
          <a:bodyPr wrap="square">
            <a:spAutoFit/>
          </a:bodyPr>
          <a:lstStyle/>
          <a:p>
            <a:pPr algn="l"/>
            <a:r>
              <a:rPr sz="950" b="0" i="0">
                <a:solidFill>
                  <a:srgbClr val="1A1A2E"/>
                </a:solidFill>
                <a:latin typeface="Calibri"/>
              </a:rPr>
              <a:t>▸  2024 shows higher absolute revenue than 2023 in most months</a:t>
            </a:r>
          </a:p>
        </p:txBody>
      </p:sp>
      <p:sp>
        <p:nvSpPr>
          <p:cNvPr id="45" name="TextBox 44"/>
          <p:cNvSpPr txBox="1"/>
          <p:nvPr/>
        </p:nvSpPr>
        <p:spPr>
          <a:xfrm>
            <a:off x="6492240" y="5422392"/>
            <a:ext cx="5212080" cy="548640"/>
          </a:xfrm>
          <a:prstGeom prst="rect">
            <a:avLst/>
          </a:prstGeom>
          <a:noFill/>
        </p:spPr>
        <p:txBody>
          <a:bodyPr wrap="square">
            <a:spAutoFit/>
          </a:bodyPr>
          <a:lstStyle/>
          <a:p>
            <a:pPr algn="l"/>
            <a:r>
              <a:rPr sz="950" b="0" i="0">
                <a:solidFill>
                  <a:srgbClr val="1A1A2E"/>
                </a:solidFill>
                <a:latin typeface="Calibri"/>
              </a:rPr>
              <a:t>▸  No dramatic seasonal collapse — business is relatively stable year-round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06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502920"/>
          </a:xfrm>
          <a:prstGeom prst="rect">
            <a:avLst/>
          </a:prstGeom>
          <a:noFill/>
        </p:spPr>
        <p:txBody>
          <a:bodyPr wrap="square">
            <a:spAutoFit/>
          </a:bodyPr>
          <a:lstStyle/>
          <a:p>
            <a:pPr algn="l"/>
            <a:r>
              <a:rPr sz="2200" b="1" i="0">
                <a:solidFill>
                  <a:srgbClr val="FFFFFF"/>
                </a:solidFill>
                <a:latin typeface="Calibri"/>
              </a:rPr>
              <a:t>DISCOUNT &amp; MARGIN ANALYSIS</a:t>
            </a:r>
          </a:p>
        </p:txBody>
      </p:sp>
      <p:sp>
        <p:nvSpPr>
          <p:cNvPr id="4" name="TextBox 3"/>
          <p:cNvSpPr txBox="1"/>
          <p:nvPr/>
        </p:nvSpPr>
        <p:spPr>
          <a:xfrm>
            <a:off x="8686800" y="228600"/>
            <a:ext cx="3200400" cy="365760"/>
          </a:xfrm>
          <a:prstGeom prst="rect">
            <a:avLst/>
          </a:prstGeom>
          <a:noFill/>
        </p:spPr>
        <p:txBody>
          <a:bodyPr wrap="square">
            <a:spAutoFit/>
          </a:bodyPr>
          <a:lstStyle/>
          <a:p>
            <a:pPr algn="r"/>
            <a:r>
              <a:rPr sz="1000" b="0" i="0">
                <a:solidFill>
                  <a:srgbClr val="99F6E4"/>
                </a:solidFill>
                <a:latin typeface="Calibri"/>
              </a:rPr>
              <a:t>Page 2 of Dashboard</a:t>
            </a:r>
          </a:p>
        </p:txBody>
      </p:sp>
      <p:sp>
        <p:nvSpPr>
          <p:cNvPr id="5" name="Rectangle 4"/>
          <p:cNvSpPr/>
          <p:nvPr/>
        </p:nvSpPr>
        <p:spPr>
          <a:xfrm>
            <a:off x="365760" y="960120"/>
            <a:ext cx="11430000" cy="914400"/>
          </a:xfrm>
          <a:prstGeom prst="rect">
            <a:avLst/>
          </a:prstGeom>
          <a:solidFill>
            <a:srgbClr val="06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91440" cy="914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24128"/>
            <a:ext cx="11064240" cy="777240"/>
          </a:xfrm>
          <a:prstGeom prst="rect">
            <a:avLst/>
          </a:prstGeom>
          <a:noFill/>
        </p:spPr>
        <p:txBody>
          <a:bodyPr wrap="square">
            <a:spAutoFit/>
          </a:bodyPr>
          <a:lstStyle/>
          <a:p>
            <a:pPr algn="l"/>
            <a:r>
              <a:rPr sz="1050" b="0" i="0">
                <a:solidFill>
                  <a:srgbClr val="FFFFFF"/>
                </a:solidFill>
                <a:latin typeface="Calibri"/>
              </a:rPr>
              <a:t>🔑  KEY FINDING: Margins remain consistent at 41–44% across ALL discount levels (0% to 20%). Discounts are NOT hurting profitability — the company's cost structure absorbs them effectively.</a:t>
            </a:r>
          </a:p>
        </p:txBody>
      </p:sp>
      <p:sp>
        <p:nvSpPr>
          <p:cNvPr id="8" name="Rectangle 7"/>
          <p:cNvSpPr/>
          <p:nvPr/>
        </p:nvSpPr>
        <p:spPr>
          <a:xfrm>
            <a:off x="365760" y="2057400"/>
            <a:ext cx="5486400" cy="4434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057400"/>
            <a:ext cx="64008" cy="4434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148840"/>
            <a:ext cx="5120640" cy="365760"/>
          </a:xfrm>
          <a:prstGeom prst="rect">
            <a:avLst/>
          </a:prstGeom>
          <a:noFill/>
        </p:spPr>
        <p:txBody>
          <a:bodyPr wrap="square">
            <a:spAutoFit/>
          </a:bodyPr>
          <a:lstStyle/>
          <a:p>
            <a:pPr algn="l"/>
            <a:r>
              <a:rPr sz="1100" b="1" i="0">
                <a:solidFill>
                  <a:srgbClr val="1E2761"/>
                </a:solidFill>
                <a:latin typeface="Calibri"/>
              </a:rPr>
              <a:t>📋  Margin by Category &amp; Discount Level</a:t>
            </a:r>
          </a:p>
        </p:txBody>
      </p:sp>
      <p:sp>
        <p:nvSpPr>
          <p:cNvPr id="11" name="Rectangle 10"/>
          <p:cNvSpPr/>
          <p:nvPr/>
        </p:nvSpPr>
        <p:spPr>
          <a:xfrm>
            <a:off x="384048" y="2606040"/>
            <a:ext cx="5440680" cy="50292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697480"/>
            <a:ext cx="1325880" cy="347472"/>
          </a:xfrm>
          <a:prstGeom prst="rect">
            <a:avLst/>
          </a:prstGeom>
          <a:noFill/>
        </p:spPr>
        <p:txBody>
          <a:bodyPr wrap="square">
            <a:spAutoFit/>
          </a:bodyPr>
          <a:lstStyle/>
          <a:p>
            <a:pPr algn="l"/>
            <a:r>
              <a:rPr sz="800" b="1" i="0">
                <a:solidFill>
                  <a:srgbClr val="1E2761"/>
                </a:solidFill>
                <a:latin typeface="Calibri"/>
              </a:rPr>
              <a:t>Category</a:t>
            </a:r>
          </a:p>
        </p:txBody>
      </p:sp>
      <p:sp>
        <p:nvSpPr>
          <p:cNvPr id="13" name="TextBox 12"/>
          <p:cNvSpPr txBox="1"/>
          <p:nvPr/>
        </p:nvSpPr>
        <p:spPr>
          <a:xfrm>
            <a:off x="1874519" y="2697480"/>
            <a:ext cx="640080" cy="347472"/>
          </a:xfrm>
          <a:prstGeom prst="rect">
            <a:avLst/>
          </a:prstGeom>
          <a:noFill/>
        </p:spPr>
        <p:txBody>
          <a:bodyPr wrap="square">
            <a:spAutoFit/>
          </a:bodyPr>
          <a:lstStyle/>
          <a:p>
            <a:pPr algn="ctr"/>
            <a:r>
              <a:rPr sz="800" b="1" i="0">
                <a:solidFill>
                  <a:srgbClr val="1E2761"/>
                </a:solidFill>
                <a:latin typeface="Calibri"/>
              </a:rPr>
              <a:t>0%</a:t>
            </a:r>
          </a:p>
        </p:txBody>
      </p:sp>
      <p:sp>
        <p:nvSpPr>
          <p:cNvPr id="14" name="TextBox 13"/>
          <p:cNvSpPr txBox="1"/>
          <p:nvPr/>
        </p:nvSpPr>
        <p:spPr>
          <a:xfrm>
            <a:off x="2560320" y="2697480"/>
            <a:ext cx="640080" cy="347472"/>
          </a:xfrm>
          <a:prstGeom prst="rect">
            <a:avLst/>
          </a:prstGeom>
          <a:noFill/>
        </p:spPr>
        <p:txBody>
          <a:bodyPr wrap="square">
            <a:spAutoFit/>
          </a:bodyPr>
          <a:lstStyle/>
          <a:p>
            <a:pPr algn="ctr"/>
            <a:r>
              <a:rPr sz="800" b="1" i="0">
                <a:solidFill>
                  <a:srgbClr val="1E2761"/>
                </a:solidFill>
                <a:latin typeface="Calibri"/>
              </a:rPr>
              <a:t>5%</a:t>
            </a:r>
          </a:p>
        </p:txBody>
      </p:sp>
      <p:sp>
        <p:nvSpPr>
          <p:cNvPr id="15" name="TextBox 14"/>
          <p:cNvSpPr txBox="1"/>
          <p:nvPr/>
        </p:nvSpPr>
        <p:spPr>
          <a:xfrm>
            <a:off x="3246120" y="2697480"/>
            <a:ext cx="640080" cy="347472"/>
          </a:xfrm>
          <a:prstGeom prst="rect">
            <a:avLst/>
          </a:prstGeom>
          <a:noFill/>
        </p:spPr>
        <p:txBody>
          <a:bodyPr wrap="square">
            <a:spAutoFit/>
          </a:bodyPr>
          <a:lstStyle/>
          <a:p>
            <a:pPr algn="ctr"/>
            <a:r>
              <a:rPr sz="800" b="1" i="0">
                <a:solidFill>
                  <a:srgbClr val="1E2761"/>
                </a:solidFill>
                <a:latin typeface="Calibri"/>
              </a:rPr>
              <a:t>10%</a:t>
            </a:r>
          </a:p>
        </p:txBody>
      </p:sp>
      <p:sp>
        <p:nvSpPr>
          <p:cNvPr id="16" name="TextBox 15"/>
          <p:cNvSpPr txBox="1"/>
          <p:nvPr/>
        </p:nvSpPr>
        <p:spPr>
          <a:xfrm>
            <a:off x="3931920" y="2697480"/>
            <a:ext cx="640080" cy="347472"/>
          </a:xfrm>
          <a:prstGeom prst="rect">
            <a:avLst/>
          </a:prstGeom>
          <a:noFill/>
        </p:spPr>
        <p:txBody>
          <a:bodyPr wrap="square">
            <a:spAutoFit/>
          </a:bodyPr>
          <a:lstStyle/>
          <a:p>
            <a:pPr algn="ctr"/>
            <a:r>
              <a:rPr sz="800" b="1" i="0">
                <a:solidFill>
                  <a:srgbClr val="1E2761"/>
                </a:solidFill>
                <a:latin typeface="Calibri"/>
              </a:rPr>
              <a:t>15%</a:t>
            </a:r>
          </a:p>
        </p:txBody>
      </p:sp>
      <p:sp>
        <p:nvSpPr>
          <p:cNvPr id="17" name="TextBox 16"/>
          <p:cNvSpPr txBox="1"/>
          <p:nvPr/>
        </p:nvSpPr>
        <p:spPr>
          <a:xfrm>
            <a:off x="4617720" y="2697480"/>
            <a:ext cx="640080" cy="347472"/>
          </a:xfrm>
          <a:prstGeom prst="rect">
            <a:avLst/>
          </a:prstGeom>
          <a:noFill/>
        </p:spPr>
        <p:txBody>
          <a:bodyPr wrap="square">
            <a:spAutoFit/>
          </a:bodyPr>
          <a:lstStyle/>
          <a:p>
            <a:pPr algn="ctr"/>
            <a:r>
              <a:rPr sz="800" b="1" i="0">
                <a:solidFill>
                  <a:srgbClr val="1E2761"/>
                </a:solidFill>
                <a:latin typeface="Calibri"/>
              </a:rPr>
              <a:t>20%</a:t>
            </a:r>
          </a:p>
        </p:txBody>
      </p:sp>
      <p:sp>
        <p:nvSpPr>
          <p:cNvPr id="18" name="Rectangle 17"/>
          <p:cNvSpPr/>
          <p:nvPr/>
        </p:nvSpPr>
        <p:spPr>
          <a:xfrm>
            <a:off x="384048" y="3172968"/>
            <a:ext cx="544068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264408"/>
            <a:ext cx="1325880" cy="347472"/>
          </a:xfrm>
          <a:prstGeom prst="rect">
            <a:avLst/>
          </a:prstGeom>
          <a:noFill/>
        </p:spPr>
        <p:txBody>
          <a:bodyPr wrap="square">
            <a:spAutoFit/>
          </a:bodyPr>
          <a:lstStyle/>
          <a:p>
            <a:pPr algn="l"/>
            <a:r>
              <a:rPr sz="850" b="0" i="0">
                <a:solidFill>
                  <a:srgbClr val="1A1A2E"/>
                </a:solidFill>
                <a:latin typeface="Calibri"/>
              </a:rPr>
              <a:t>Furniture</a:t>
            </a:r>
          </a:p>
        </p:txBody>
      </p:sp>
      <p:sp>
        <p:nvSpPr>
          <p:cNvPr id="20" name="TextBox 19"/>
          <p:cNvSpPr txBox="1"/>
          <p:nvPr/>
        </p:nvSpPr>
        <p:spPr>
          <a:xfrm>
            <a:off x="1874519" y="3264408"/>
            <a:ext cx="640080" cy="347472"/>
          </a:xfrm>
          <a:prstGeom prst="rect">
            <a:avLst/>
          </a:prstGeom>
          <a:noFill/>
        </p:spPr>
        <p:txBody>
          <a:bodyPr wrap="square">
            <a:spAutoFit/>
          </a:bodyPr>
          <a:lstStyle/>
          <a:p>
            <a:pPr algn="ctr"/>
            <a:r>
              <a:rPr sz="850" b="0" i="0">
                <a:solidFill>
                  <a:srgbClr val="1A1A2E"/>
                </a:solidFill>
                <a:latin typeface="Calibri"/>
              </a:rPr>
              <a:t>42.91%</a:t>
            </a:r>
          </a:p>
        </p:txBody>
      </p:sp>
      <p:sp>
        <p:nvSpPr>
          <p:cNvPr id="21" name="TextBox 20"/>
          <p:cNvSpPr txBox="1"/>
          <p:nvPr/>
        </p:nvSpPr>
        <p:spPr>
          <a:xfrm>
            <a:off x="2560320" y="3264408"/>
            <a:ext cx="640080" cy="347472"/>
          </a:xfrm>
          <a:prstGeom prst="rect">
            <a:avLst/>
          </a:prstGeom>
          <a:noFill/>
        </p:spPr>
        <p:txBody>
          <a:bodyPr wrap="square">
            <a:spAutoFit/>
          </a:bodyPr>
          <a:lstStyle/>
          <a:p>
            <a:pPr algn="ctr"/>
            <a:r>
              <a:rPr sz="850" b="0" i="0">
                <a:solidFill>
                  <a:srgbClr val="1A1A2E"/>
                </a:solidFill>
                <a:latin typeface="Calibri"/>
              </a:rPr>
              <a:t>44.09%</a:t>
            </a:r>
          </a:p>
        </p:txBody>
      </p:sp>
      <p:sp>
        <p:nvSpPr>
          <p:cNvPr id="22" name="TextBox 21"/>
          <p:cNvSpPr txBox="1"/>
          <p:nvPr/>
        </p:nvSpPr>
        <p:spPr>
          <a:xfrm>
            <a:off x="3246120" y="3264408"/>
            <a:ext cx="640080" cy="347472"/>
          </a:xfrm>
          <a:prstGeom prst="rect">
            <a:avLst/>
          </a:prstGeom>
          <a:noFill/>
        </p:spPr>
        <p:txBody>
          <a:bodyPr wrap="square">
            <a:spAutoFit/>
          </a:bodyPr>
          <a:lstStyle/>
          <a:p>
            <a:pPr algn="ctr"/>
            <a:r>
              <a:rPr sz="850" b="0" i="0">
                <a:solidFill>
                  <a:srgbClr val="1A1A2E"/>
                </a:solidFill>
                <a:latin typeface="Calibri"/>
              </a:rPr>
              <a:t>41.65%</a:t>
            </a:r>
          </a:p>
        </p:txBody>
      </p:sp>
      <p:sp>
        <p:nvSpPr>
          <p:cNvPr id="23" name="TextBox 22"/>
          <p:cNvSpPr txBox="1"/>
          <p:nvPr/>
        </p:nvSpPr>
        <p:spPr>
          <a:xfrm>
            <a:off x="3931920" y="3264408"/>
            <a:ext cx="640080" cy="347472"/>
          </a:xfrm>
          <a:prstGeom prst="rect">
            <a:avLst/>
          </a:prstGeom>
          <a:noFill/>
        </p:spPr>
        <p:txBody>
          <a:bodyPr wrap="square">
            <a:spAutoFit/>
          </a:bodyPr>
          <a:lstStyle/>
          <a:p>
            <a:pPr algn="ctr"/>
            <a:r>
              <a:rPr sz="850" b="0" i="0">
                <a:solidFill>
                  <a:srgbClr val="1A1A2E"/>
                </a:solidFill>
                <a:latin typeface="Calibri"/>
              </a:rPr>
              <a:t>42.93%</a:t>
            </a:r>
          </a:p>
        </p:txBody>
      </p:sp>
      <p:sp>
        <p:nvSpPr>
          <p:cNvPr id="24" name="TextBox 23"/>
          <p:cNvSpPr txBox="1"/>
          <p:nvPr/>
        </p:nvSpPr>
        <p:spPr>
          <a:xfrm>
            <a:off x="4617720" y="3264408"/>
            <a:ext cx="640080" cy="347472"/>
          </a:xfrm>
          <a:prstGeom prst="rect">
            <a:avLst/>
          </a:prstGeom>
          <a:noFill/>
        </p:spPr>
        <p:txBody>
          <a:bodyPr wrap="square">
            <a:spAutoFit/>
          </a:bodyPr>
          <a:lstStyle/>
          <a:p>
            <a:pPr algn="ctr"/>
            <a:r>
              <a:rPr sz="850" b="0" i="0">
                <a:solidFill>
                  <a:srgbClr val="1A1A2E"/>
                </a:solidFill>
                <a:latin typeface="Calibri"/>
              </a:rPr>
              <a:t>43.13%</a:t>
            </a:r>
          </a:p>
        </p:txBody>
      </p:sp>
      <p:sp>
        <p:nvSpPr>
          <p:cNvPr id="25" name="Rectangle 24"/>
          <p:cNvSpPr/>
          <p:nvPr/>
        </p:nvSpPr>
        <p:spPr>
          <a:xfrm>
            <a:off x="384048" y="3739896"/>
            <a:ext cx="54406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3831335"/>
            <a:ext cx="1325880" cy="347472"/>
          </a:xfrm>
          <a:prstGeom prst="rect">
            <a:avLst/>
          </a:prstGeom>
          <a:noFill/>
        </p:spPr>
        <p:txBody>
          <a:bodyPr wrap="square">
            <a:spAutoFit/>
          </a:bodyPr>
          <a:lstStyle/>
          <a:p>
            <a:pPr algn="l"/>
            <a:r>
              <a:rPr sz="850" b="0" i="0">
                <a:solidFill>
                  <a:srgbClr val="1A1A2E"/>
                </a:solidFill>
                <a:latin typeface="Calibri"/>
              </a:rPr>
              <a:t>Electronics</a:t>
            </a:r>
          </a:p>
        </p:txBody>
      </p:sp>
      <p:sp>
        <p:nvSpPr>
          <p:cNvPr id="27" name="TextBox 26"/>
          <p:cNvSpPr txBox="1"/>
          <p:nvPr/>
        </p:nvSpPr>
        <p:spPr>
          <a:xfrm>
            <a:off x="1874519" y="3831335"/>
            <a:ext cx="640080" cy="347472"/>
          </a:xfrm>
          <a:prstGeom prst="rect">
            <a:avLst/>
          </a:prstGeom>
          <a:noFill/>
        </p:spPr>
        <p:txBody>
          <a:bodyPr wrap="square">
            <a:spAutoFit/>
          </a:bodyPr>
          <a:lstStyle/>
          <a:p>
            <a:pPr algn="ctr"/>
            <a:r>
              <a:rPr sz="850" b="0" i="0">
                <a:solidFill>
                  <a:srgbClr val="1A1A2E"/>
                </a:solidFill>
                <a:latin typeface="Calibri"/>
              </a:rPr>
              <a:t>41.68%</a:t>
            </a:r>
          </a:p>
        </p:txBody>
      </p:sp>
      <p:sp>
        <p:nvSpPr>
          <p:cNvPr id="28" name="TextBox 27"/>
          <p:cNvSpPr txBox="1"/>
          <p:nvPr/>
        </p:nvSpPr>
        <p:spPr>
          <a:xfrm>
            <a:off x="2560320" y="3831335"/>
            <a:ext cx="640080" cy="347472"/>
          </a:xfrm>
          <a:prstGeom prst="rect">
            <a:avLst/>
          </a:prstGeom>
          <a:noFill/>
        </p:spPr>
        <p:txBody>
          <a:bodyPr wrap="square">
            <a:spAutoFit/>
          </a:bodyPr>
          <a:lstStyle/>
          <a:p>
            <a:pPr algn="ctr"/>
            <a:r>
              <a:rPr sz="850" b="0" i="0">
                <a:solidFill>
                  <a:srgbClr val="1A1A2E"/>
                </a:solidFill>
                <a:latin typeface="Calibri"/>
              </a:rPr>
              <a:t>41.86%</a:t>
            </a:r>
          </a:p>
        </p:txBody>
      </p:sp>
      <p:sp>
        <p:nvSpPr>
          <p:cNvPr id="29" name="TextBox 28"/>
          <p:cNvSpPr txBox="1"/>
          <p:nvPr/>
        </p:nvSpPr>
        <p:spPr>
          <a:xfrm>
            <a:off x="3246120" y="3831335"/>
            <a:ext cx="640080" cy="347472"/>
          </a:xfrm>
          <a:prstGeom prst="rect">
            <a:avLst/>
          </a:prstGeom>
          <a:noFill/>
        </p:spPr>
        <p:txBody>
          <a:bodyPr wrap="square">
            <a:spAutoFit/>
          </a:bodyPr>
          <a:lstStyle/>
          <a:p>
            <a:pPr algn="ctr"/>
            <a:r>
              <a:rPr sz="850" b="0" i="0">
                <a:solidFill>
                  <a:srgbClr val="1A1A2E"/>
                </a:solidFill>
                <a:latin typeface="Calibri"/>
              </a:rPr>
              <a:t>43.95%</a:t>
            </a:r>
          </a:p>
        </p:txBody>
      </p:sp>
      <p:sp>
        <p:nvSpPr>
          <p:cNvPr id="30" name="TextBox 29"/>
          <p:cNvSpPr txBox="1"/>
          <p:nvPr/>
        </p:nvSpPr>
        <p:spPr>
          <a:xfrm>
            <a:off x="3931920" y="3831335"/>
            <a:ext cx="640080" cy="347472"/>
          </a:xfrm>
          <a:prstGeom prst="rect">
            <a:avLst/>
          </a:prstGeom>
          <a:noFill/>
        </p:spPr>
        <p:txBody>
          <a:bodyPr wrap="square">
            <a:spAutoFit/>
          </a:bodyPr>
          <a:lstStyle/>
          <a:p>
            <a:pPr algn="ctr"/>
            <a:r>
              <a:rPr sz="850" b="0" i="0">
                <a:solidFill>
                  <a:srgbClr val="1A1A2E"/>
                </a:solidFill>
                <a:latin typeface="Calibri"/>
              </a:rPr>
              <a:t>44.59%</a:t>
            </a:r>
          </a:p>
        </p:txBody>
      </p:sp>
      <p:sp>
        <p:nvSpPr>
          <p:cNvPr id="31" name="TextBox 30"/>
          <p:cNvSpPr txBox="1"/>
          <p:nvPr/>
        </p:nvSpPr>
        <p:spPr>
          <a:xfrm>
            <a:off x="4617720" y="3831335"/>
            <a:ext cx="640080" cy="347472"/>
          </a:xfrm>
          <a:prstGeom prst="rect">
            <a:avLst/>
          </a:prstGeom>
          <a:noFill/>
        </p:spPr>
        <p:txBody>
          <a:bodyPr wrap="square">
            <a:spAutoFit/>
          </a:bodyPr>
          <a:lstStyle/>
          <a:p>
            <a:pPr algn="ctr"/>
            <a:r>
              <a:rPr sz="850" b="0" i="0">
                <a:solidFill>
                  <a:srgbClr val="1A1A2E"/>
                </a:solidFill>
                <a:latin typeface="Calibri"/>
              </a:rPr>
              <a:t>43.56%</a:t>
            </a:r>
          </a:p>
        </p:txBody>
      </p:sp>
      <p:sp>
        <p:nvSpPr>
          <p:cNvPr id="32" name="Rectangle 31"/>
          <p:cNvSpPr/>
          <p:nvPr/>
        </p:nvSpPr>
        <p:spPr>
          <a:xfrm>
            <a:off x="384048" y="4306824"/>
            <a:ext cx="544068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4398264"/>
            <a:ext cx="1325880" cy="347472"/>
          </a:xfrm>
          <a:prstGeom prst="rect">
            <a:avLst/>
          </a:prstGeom>
          <a:noFill/>
        </p:spPr>
        <p:txBody>
          <a:bodyPr wrap="square">
            <a:spAutoFit/>
          </a:bodyPr>
          <a:lstStyle/>
          <a:p>
            <a:pPr algn="l"/>
            <a:r>
              <a:rPr sz="850" b="0" i="0">
                <a:solidFill>
                  <a:srgbClr val="1A1A2E"/>
                </a:solidFill>
                <a:latin typeface="Calibri"/>
              </a:rPr>
              <a:t>Groceries</a:t>
            </a:r>
          </a:p>
        </p:txBody>
      </p:sp>
      <p:sp>
        <p:nvSpPr>
          <p:cNvPr id="34" name="TextBox 33"/>
          <p:cNvSpPr txBox="1"/>
          <p:nvPr/>
        </p:nvSpPr>
        <p:spPr>
          <a:xfrm>
            <a:off x="1874519" y="4398264"/>
            <a:ext cx="640080" cy="347472"/>
          </a:xfrm>
          <a:prstGeom prst="rect">
            <a:avLst/>
          </a:prstGeom>
          <a:noFill/>
        </p:spPr>
        <p:txBody>
          <a:bodyPr wrap="square">
            <a:spAutoFit/>
          </a:bodyPr>
          <a:lstStyle/>
          <a:p>
            <a:pPr algn="ctr"/>
            <a:r>
              <a:rPr sz="850" b="0" i="0">
                <a:solidFill>
                  <a:srgbClr val="1A1A2E"/>
                </a:solidFill>
                <a:latin typeface="Calibri"/>
              </a:rPr>
              <a:t>42.51%</a:t>
            </a:r>
          </a:p>
        </p:txBody>
      </p:sp>
      <p:sp>
        <p:nvSpPr>
          <p:cNvPr id="35" name="TextBox 34"/>
          <p:cNvSpPr txBox="1"/>
          <p:nvPr/>
        </p:nvSpPr>
        <p:spPr>
          <a:xfrm>
            <a:off x="2560320" y="4398264"/>
            <a:ext cx="640080" cy="347472"/>
          </a:xfrm>
          <a:prstGeom prst="rect">
            <a:avLst/>
          </a:prstGeom>
          <a:noFill/>
        </p:spPr>
        <p:txBody>
          <a:bodyPr wrap="square">
            <a:spAutoFit/>
          </a:bodyPr>
          <a:lstStyle/>
          <a:p>
            <a:pPr algn="ctr"/>
            <a:r>
              <a:rPr sz="850" b="0" i="0">
                <a:solidFill>
                  <a:srgbClr val="1A1A2E"/>
                </a:solidFill>
                <a:latin typeface="Calibri"/>
              </a:rPr>
              <a:t>43.37%</a:t>
            </a:r>
          </a:p>
        </p:txBody>
      </p:sp>
      <p:sp>
        <p:nvSpPr>
          <p:cNvPr id="36" name="TextBox 35"/>
          <p:cNvSpPr txBox="1"/>
          <p:nvPr/>
        </p:nvSpPr>
        <p:spPr>
          <a:xfrm>
            <a:off x="3246120" y="4398264"/>
            <a:ext cx="640080" cy="347472"/>
          </a:xfrm>
          <a:prstGeom prst="rect">
            <a:avLst/>
          </a:prstGeom>
          <a:noFill/>
        </p:spPr>
        <p:txBody>
          <a:bodyPr wrap="square">
            <a:spAutoFit/>
          </a:bodyPr>
          <a:lstStyle/>
          <a:p>
            <a:pPr algn="ctr"/>
            <a:r>
              <a:rPr sz="850" b="0" i="0">
                <a:solidFill>
                  <a:srgbClr val="1A1A2E"/>
                </a:solidFill>
                <a:latin typeface="Calibri"/>
              </a:rPr>
              <a:t>41.64%</a:t>
            </a:r>
          </a:p>
        </p:txBody>
      </p:sp>
      <p:sp>
        <p:nvSpPr>
          <p:cNvPr id="37" name="TextBox 36"/>
          <p:cNvSpPr txBox="1"/>
          <p:nvPr/>
        </p:nvSpPr>
        <p:spPr>
          <a:xfrm>
            <a:off x="3931920" y="4398264"/>
            <a:ext cx="640080" cy="347472"/>
          </a:xfrm>
          <a:prstGeom prst="rect">
            <a:avLst/>
          </a:prstGeom>
          <a:noFill/>
        </p:spPr>
        <p:txBody>
          <a:bodyPr wrap="square">
            <a:spAutoFit/>
          </a:bodyPr>
          <a:lstStyle/>
          <a:p>
            <a:pPr algn="ctr"/>
            <a:r>
              <a:rPr sz="850" b="0" i="0">
                <a:solidFill>
                  <a:srgbClr val="1A1A2E"/>
                </a:solidFill>
                <a:latin typeface="Calibri"/>
              </a:rPr>
              <a:t>43.74%</a:t>
            </a:r>
          </a:p>
        </p:txBody>
      </p:sp>
      <p:sp>
        <p:nvSpPr>
          <p:cNvPr id="38" name="TextBox 37"/>
          <p:cNvSpPr txBox="1"/>
          <p:nvPr/>
        </p:nvSpPr>
        <p:spPr>
          <a:xfrm>
            <a:off x="4617720" y="4398264"/>
            <a:ext cx="640080" cy="347472"/>
          </a:xfrm>
          <a:prstGeom prst="rect">
            <a:avLst/>
          </a:prstGeom>
          <a:noFill/>
        </p:spPr>
        <p:txBody>
          <a:bodyPr wrap="square">
            <a:spAutoFit/>
          </a:bodyPr>
          <a:lstStyle/>
          <a:p>
            <a:pPr algn="ctr"/>
            <a:r>
              <a:rPr sz="850" b="0" i="0">
                <a:solidFill>
                  <a:srgbClr val="1A1A2E"/>
                </a:solidFill>
                <a:latin typeface="Calibri"/>
              </a:rPr>
              <a:t>41.69%</a:t>
            </a:r>
          </a:p>
        </p:txBody>
      </p:sp>
      <p:sp>
        <p:nvSpPr>
          <p:cNvPr id="39" name="Rectangle 38"/>
          <p:cNvSpPr/>
          <p:nvPr/>
        </p:nvSpPr>
        <p:spPr>
          <a:xfrm>
            <a:off x="384048" y="4873752"/>
            <a:ext cx="54406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2920" y="4965192"/>
            <a:ext cx="1325880" cy="347472"/>
          </a:xfrm>
          <a:prstGeom prst="rect">
            <a:avLst/>
          </a:prstGeom>
          <a:noFill/>
        </p:spPr>
        <p:txBody>
          <a:bodyPr wrap="square">
            <a:spAutoFit/>
          </a:bodyPr>
          <a:lstStyle/>
          <a:p>
            <a:pPr algn="l"/>
            <a:r>
              <a:rPr sz="850" b="0" i="0">
                <a:solidFill>
                  <a:srgbClr val="1A1A2E"/>
                </a:solidFill>
                <a:latin typeface="Calibri"/>
              </a:rPr>
              <a:t>Clothing</a:t>
            </a:r>
          </a:p>
        </p:txBody>
      </p:sp>
      <p:sp>
        <p:nvSpPr>
          <p:cNvPr id="41" name="TextBox 40"/>
          <p:cNvSpPr txBox="1"/>
          <p:nvPr/>
        </p:nvSpPr>
        <p:spPr>
          <a:xfrm>
            <a:off x="1874519" y="4965192"/>
            <a:ext cx="640080" cy="347472"/>
          </a:xfrm>
          <a:prstGeom prst="rect">
            <a:avLst/>
          </a:prstGeom>
          <a:noFill/>
        </p:spPr>
        <p:txBody>
          <a:bodyPr wrap="square">
            <a:spAutoFit/>
          </a:bodyPr>
          <a:lstStyle/>
          <a:p>
            <a:pPr algn="ctr"/>
            <a:r>
              <a:rPr sz="850" b="0" i="0">
                <a:solidFill>
                  <a:srgbClr val="1A1A2E"/>
                </a:solidFill>
                <a:latin typeface="Calibri"/>
              </a:rPr>
              <a:t>42.43%</a:t>
            </a:r>
          </a:p>
        </p:txBody>
      </p:sp>
      <p:sp>
        <p:nvSpPr>
          <p:cNvPr id="42" name="TextBox 41"/>
          <p:cNvSpPr txBox="1"/>
          <p:nvPr/>
        </p:nvSpPr>
        <p:spPr>
          <a:xfrm>
            <a:off x="2560320" y="4965192"/>
            <a:ext cx="640080" cy="347472"/>
          </a:xfrm>
          <a:prstGeom prst="rect">
            <a:avLst/>
          </a:prstGeom>
          <a:noFill/>
        </p:spPr>
        <p:txBody>
          <a:bodyPr wrap="square">
            <a:spAutoFit/>
          </a:bodyPr>
          <a:lstStyle/>
          <a:p>
            <a:pPr algn="ctr"/>
            <a:r>
              <a:rPr sz="850" b="0" i="0">
                <a:solidFill>
                  <a:srgbClr val="1A1A2E"/>
                </a:solidFill>
                <a:latin typeface="Calibri"/>
              </a:rPr>
              <a:t>40.03%</a:t>
            </a:r>
          </a:p>
        </p:txBody>
      </p:sp>
      <p:sp>
        <p:nvSpPr>
          <p:cNvPr id="43" name="TextBox 42"/>
          <p:cNvSpPr txBox="1"/>
          <p:nvPr/>
        </p:nvSpPr>
        <p:spPr>
          <a:xfrm>
            <a:off x="3246120" y="4965192"/>
            <a:ext cx="640080" cy="347472"/>
          </a:xfrm>
          <a:prstGeom prst="rect">
            <a:avLst/>
          </a:prstGeom>
          <a:noFill/>
        </p:spPr>
        <p:txBody>
          <a:bodyPr wrap="square">
            <a:spAutoFit/>
          </a:bodyPr>
          <a:lstStyle/>
          <a:p>
            <a:pPr algn="ctr"/>
            <a:r>
              <a:rPr sz="850" b="0" i="0">
                <a:solidFill>
                  <a:srgbClr val="1A1A2E"/>
                </a:solidFill>
                <a:latin typeface="Calibri"/>
              </a:rPr>
              <a:t>41.88%</a:t>
            </a:r>
          </a:p>
        </p:txBody>
      </p:sp>
      <p:sp>
        <p:nvSpPr>
          <p:cNvPr id="44" name="TextBox 43"/>
          <p:cNvSpPr txBox="1"/>
          <p:nvPr/>
        </p:nvSpPr>
        <p:spPr>
          <a:xfrm>
            <a:off x="3931920" y="4965192"/>
            <a:ext cx="640080" cy="347472"/>
          </a:xfrm>
          <a:prstGeom prst="rect">
            <a:avLst/>
          </a:prstGeom>
          <a:noFill/>
        </p:spPr>
        <p:txBody>
          <a:bodyPr wrap="square">
            <a:spAutoFit/>
          </a:bodyPr>
          <a:lstStyle/>
          <a:p>
            <a:pPr algn="ctr"/>
            <a:r>
              <a:rPr sz="850" b="0" i="0">
                <a:solidFill>
                  <a:srgbClr val="1A1A2E"/>
                </a:solidFill>
                <a:latin typeface="Calibri"/>
              </a:rPr>
              <a:t>42.32%</a:t>
            </a:r>
          </a:p>
        </p:txBody>
      </p:sp>
      <p:sp>
        <p:nvSpPr>
          <p:cNvPr id="45" name="TextBox 44"/>
          <p:cNvSpPr txBox="1"/>
          <p:nvPr/>
        </p:nvSpPr>
        <p:spPr>
          <a:xfrm>
            <a:off x="4617720" y="4965192"/>
            <a:ext cx="640080" cy="347472"/>
          </a:xfrm>
          <a:prstGeom prst="rect">
            <a:avLst/>
          </a:prstGeom>
          <a:noFill/>
        </p:spPr>
        <p:txBody>
          <a:bodyPr wrap="square">
            <a:spAutoFit/>
          </a:bodyPr>
          <a:lstStyle/>
          <a:p>
            <a:pPr algn="ctr"/>
            <a:r>
              <a:rPr sz="850" b="0" i="0">
                <a:solidFill>
                  <a:srgbClr val="1A1A2E"/>
                </a:solidFill>
                <a:latin typeface="Calibri"/>
              </a:rPr>
              <a:t>42.00%</a:t>
            </a:r>
          </a:p>
        </p:txBody>
      </p:sp>
      <p:sp>
        <p:nvSpPr>
          <p:cNvPr id="46" name="Rectangle 45"/>
          <p:cNvSpPr/>
          <p:nvPr/>
        </p:nvSpPr>
        <p:spPr>
          <a:xfrm>
            <a:off x="384048" y="5440680"/>
            <a:ext cx="544068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02920" y="5532120"/>
            <a:ext cx="1325880" cy="347472"/>
          </a:xfrm>
          <a:prstGeom prst="rect">
            <a:avLst/>
          </a:prstGeom>
          <a:noFill/>
        </p:spPr>
        <p:txBody>
          <a:bodyPr wrap="square">
            <a:spAutoFit/>
          </a:bodyPr>
          <a:lstStyle/>
          <a:p>
            <a:pPr algn="l"/>
            <a:r>
              <a:rPr sz="850" b="0" i="0">
                <a:solidFill>
                  <a:srgbClr val="1A1A2E"/>
                </a:solidFill>
                <a:latin typeface="Calibri"/>
              </a:rPr>
              <a:t>Sports</a:t>
            </a:r>
          </a:p>
        </p:txBody>
      </p:sp>
      <p:sp>
        <p:nvSpPr>
          <p:cNvPr id="48" name="TextBox 47"/>
          <p:cNvSpPr txBox="1"/>
          <p:nvPr/>
        </p:nvSpPr>
        <p:spPr>
          <a:xfrm>
            <a:off x="1874519" y="5532120"/>
            <a:ext cx="640080" cy="347472"/>
          </a:xfrm>
          <a:prstGeom prst="rect">
            <a:avLst/>
          </a:prstGeom>
          <a:noFill/>
        </p:spPr>
        <p:txBody>
          <a:bodyPr wrap="square">
            <a:spAutoFit/>
          </a:bodyPr>
          <a:lstStyle/>
          <a:p>
            <a:pPr algn="ctr"/>
            <a:r>
              <a:rPr sz="850" b="0" i="0">
                <a:solidFill>
                  <a:srgbClr val="1A1A2E"/>
                </a:solidFill>
                <a:latin typeface="Calibri"/>
              </a:rPr>
              <a:t>41.03%</a:t>
            </a:r>
          </a:p>
        </p:txBody>
      </p:sp>
      <p:sp>
        <p:nvSpPr>
          <p:cNvPr id="49" name="TextBox 48"/>
          <p:cNvSpPr txBox="1"/>
          <p:nvPr/>
        </p:nvSpPr>
        <p:spPr>
          <a:xfrm>
            <a:off x="2560320" y="5532120"/>
            <a:ext cx="640080" cy="347472"/>
          </a:xfrm>
          <a:prstGeom prst="rect">
            <a:avLst/>
          </a:prstGeom>
          <a:noFill/>
        </p:spPr>
        <p:txBody>
          <a:bodyPr wrap="square">
            <a:spAutoFit/>
          </a:bodyPr>
          <a:lstStyle/>
          <a:p>
            <a:pPr algn="ctr"/>
            <a:r>
              <a:rPr sz="850" b="0" i="0">
                <a:solidFill>
                  <a:srgbClr val="1A1A2E"/>
                </a:solidFill>
                <a:latin typeface="Calibri"/>
              </a:rPr>
              <a:t>42.96%</a:t>
            </a:r>
          </a:p>
        </p:txBody>
      </p:sp>
      <p:sp>
        <p:nvSpPr>
          <p:cNvPr id="50" name="TextBox 49"/>
          <p:cNvSpPr txBox="1"/>
          <p:nvPr/>
        </p:nvSpPr>
        <p:spPr>
          <a:xfrm>
            <a:off x="3246120" y="5532120"/>
            <a:ext cx="640080" cy="347472"/>
          </a:xfrm>
          <a:prstGeom prst="rect">
            <a:avLst/>
          </a:prstGeom>
          <a:noFill/>
        </p:spPr>
        <p:txBody>
          <a:bodyPr wrap="square">
            <a:spAutoFit/>
          </a:bodyPr>
          <a:lstStyle/>
          <a:p>
            <a:pPr algn="ctr"/>
            <a:r>
              <a:rPr sz="850" b="0" i="0">
                <a:solidFill>
                  <a:srgbClr val="1A1A2E"/>
                </a:solidFill>
                <a:latin typeface="Calibri"/>
              </a:rPr>
              <a:t>41.87%</a:t>
            </a:r>
          </a:p>
        </p:txBody>
      </p:sp>
      <p:sp>
        <p:nvSpPr>
          <p:cNvPr id="51" name="TextBox 50"/>
          <p:cNvSpPr txBox="1"/>
          <p:nvPr/>
        </p:nvSpPr>
        <p:spPr>
          <a:xfrm>
            <a:off x="3931920" y="5532120"/>
            <a:ext cx="640080" cy="347472"/>
          </a:xfrm>
          <a:prstGeom prst="rect">
            <a:avLst/>
          </a:prstGeom>
          <a:noFill/>
        </p:spPr>
        <p:txBody>
          <a:bodyPr wrap="square">
            <a:spAutoFit/>
          </a:bodyPr>
          <a:lstStyle/>
          <a:p>
            <a:pPr algn="ctr"/>
            <a:r>
              <a:rPr sz="850" b="0" i="0">
                <a:solidFill>
                  <a:srgbClr val="1A1A2E"/>
                </a:solidFill>
                <a:latin typeface="Calibri"/>
              </a:rPr>
              <a:t>38.99%</a:t>
            </a:r>
          </a:p>
        </p:txBody>
      </p:sp>
      <p:sp>
        <p:nvSpPr>
          <p:cNvPr id="52" name="TextBox 51"/>
          <p:cNvSpPr txBox="1"/>
          <p:nvPr/>
        </p:nvSpPr>
        <p:spPr>
          <a:xfrm>
            <a:off x="4617720" y="5532120"/>
            <a:ext cx="640080" cy="347472"/>
          </a:xfrm>
          <a:prstGeom prst="rect">
            <a:avLst/>
          </a:prstGeom>
          <a:noFill/>
        </p:spPr>
        <p:txBody>
          <a:bodyPr wrap="square">
            <a:spAutoFit/>
          </a:bodyPr>
          <a:lstStyle/>
          <a:p>
            <a:pPr algn="ctr"/>
            <a:r>
              <a:rPr sz="850" b="0" i="0">
                <a:solidFill>
                  <a:srgbClr val="1A1A2E"/>
                </a:solidFill>
                <a:latin typeface="Calibri"/>
              </a:rPr>
              <a:t>41.64%</a:t>
            </a:r>
          </a:p>
        </p:txBody>
      </p:sp>
      <p:sp>
        <p:nvSpPr>
          <p:cNvPr id="53" name="Rectangle 52"/>
          <p:cNvSpPr/>
          <p:nvPr/>
        </p:nvSpPr>
        <p:spPr>
          <a:xfrm>
            <a:off x="6309360" y="2057400"/>
            <a:ext cx="5486400" cy="4434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309360" y="2057400"/>
            <a:ext cx="64008" cy="44348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92240" y="2148840"/>
            <a:ext cx="5120640" cy="365760"/>
          </a:xfrm>
          <a:prstGeom prst="rect">
            <a:avLst/>
          </a:prstGeom>
          <a:noFill/>
        </p:spPr>
        <p:txBody>
          <a:bodyPr wrap="square">
            <a:spAutoFit/>
          </a:bodyPr>
          <a:lstStyle/>
          <a:p>
            <a:pPr algn="l"/>
            <a:r>
              <a:rPr sz="1100" b="1" i="0">
                <a:solidFill>
                  <a:srgbClr val="1E2761"/>
                </a:solidFill>
                <a:latin typeface="Calibri"/>
              </a:rPr>
              <a:t>📌  What This Means</a:t>
            </a:r>
          </a:p>
        </p:txBody>
      </p:sp>
      <p:sp>
        <p:nvSpPr>
          <p:cNvPr id="56" name="TextBox 55"/>
          <p:cNvSpPr txBox="1"/>
          <p:nvPr/>
        </p:nvSpPr>
        <p:spPr>
          <a:xfrm>
            <a:off x="6492240" y="2633472"/>
            <a:ext cx="5212080" cy="274320"/>
          </a:xfrm>
          <a:prstGeom prst="rect">
            <a:avLst/>
          </a:prstGeom>
          <a:noFill/>
        </p:spPr>
        <p:txBody>
          <a:bodyPr wrap="square">
            <a:spAutoFit/>
          </a:bodyPr>
          <a:lstStyle/>
          <a:p>
            <a:pPr algn="l"/>
            <a:r>
              <a:rPr sz="950" b="1" i="0">
                <a:solidFill>
                  <a:srgbClr val="06786B"/>
                </a:solidFill>
                <a:latin typeface="Calibri"/>
              </a:rPr>
              <a:t>No margin crisis from discounts</a:t>
            </a:r>
          </a:p>
        </p:txBody>
      </p:sp>
      <p:sp>
        <p:nvSpPr>
          <p:cNvPr id="57" name="TextBox 56"/>
          <p:cNvSpPr txBox="1"/>
          <p:nvPr/>
        </p:nvSpPr>
        <p:spPr>
          <a:xfrm>
            <a:off x="6492240" y="2907791"/>
            <a:ext cx="5212080" cy="411480"/>
          </a:xfrm>
          <a:prstGeom prst="rect">
            <a:avLst/>
          </a:prstGeom>
          <a:noFill/>
        </p:spPr>
        <p:txBody>
          <a:bodyPr wrap="square">
            <a:spAutoFit/>
          </a:bodyPr>
          <a:lstStyle/>
          <a:p>
            <a:pPr algn="l"/>
            <a:r>
              <a:rPr sz="850" b="0" i="0">
                <a:solidFill>
                  <a:srgbClr val="1A1A2E"/>
                </a:solidFill>
                <a:latin typeface="Calibri"/>
              </a:rPr>
              <a:t>Every category maintains 40%+ margin even at 20% discount — this is a healthy sign.</a:t>
            </a:r>
          </a:p>
        </p:txBody>
      </p:sp>
      <p:sp>
        <p:nvSpPr>
          <p:cNvPr id="58" name="TextBox 57"/>
          <p:cNvSpPr txBox="1"/>
          <p:nvPr/>
        </p:nvSpPr>
        <p:spPr>
          <a:xfrm>
            <a:off x="6492240" y="3383279"/>
            <a:ext cx="5212080" cy="274320"/>
          </a:xfrm>
          <a:prstGeom prst="rect">
            <a:avLst/>
          </a:prstGeom>
          <a:noFill/>
        </p:spPr>
        <p:txBody>
          <a:bodyPr wrap="square">
            <a:spAutoFit/>
          </a:bodyPr>
          <a:lstStyle/>
          <a:p>
            <a:pPr algn="l"/>
            <a:r>
              <a:rPr sz="950" b="1" i="0">
                <a:solidFill>
                  <a:srgbClr val="06786B"/>
                </a:solidFill>
                <a:latin typeface="Calibri"/>
              </a:rPr>
              <a:t>Sports at 15% discount — watch this</a:t>
            </a:r>
          </a:p>
        </p:txBody>
      </p:sp>
      <p:sp>
        <p:nvSpPr>
          <p:cNvPr id="59" name="TextBox 58"/>
          <p:cNvSpPr txBox="1"/>
          <p:nvPr/>
        </p:nvSpPr>
        <p:spPr>
          <a:xfrm>
            <a:off x="6492240" y="3657599"/>
            <a:ext cx="5212080" cy="411480"/>
          </a:xfrm>
          <a:prstGeom prst="rect">
            <a:avLst/>
          </a:prstGeom>
          <a:noFill/>
        </p:spPr>
        <p:txBody>
          <a:bodyPr wrap="square">
            <a:spAutoFit/>
          </a:bodyPr>
          <a:lstStyle/>
          <a:p>
            <a:pPr algn="l"/>
            <a:r>
              <a:rPr sz="850" b="0" i="0">
                <a:solidFill>
                  <a:srgbClr val="1A1A2E"/>
                </a:solidFill>
                <a:latin typeface="Calibri"/>
              </a:rPr>
              <a:t>Sports drops to 38.99% margin at 15% discount — the only notable dip. Monitor closely.</a:t>
            </a:r>
          </a:p>
        </p:txBody>
      </p:sp>
      <p:sp>
        <p:nvSpPr>
          <p:cNvPr id="60" name="TextBox 59"/>
          <p:cNvSpPr txBox="1"/>
          <p:nvPr/>
        </p:nvSpPr>
        <p:spPr>
          <a:xfrm>
            <a:off x="6492240" y="4133087"/>
            <a:ext cx="5212080" cy="274320"/>
          </a:xfrm>
          <a:prstGeom prst="rect">
            <a:avLst/>
          </a:prstGeom>
          <a:noFill/>
        </p:spPr>
        <p:txBody>
          <a:bodyPr wrap="square">
            <a:spAutoFit/>
          </a:bodyPr>
          <a:lstStyle/>
          <a:p>
            <a:pPr algn="l"/>
            <a:r>
              <a:rPr sz="950" b="1" i="0">
                <a:solidFill>
                  <a:srgbClr val="06786B"/>
                </a:solidFill>
                <a:latin typeface="Calibri"/>
              </a:rPr>
              <a:t>Discounting strategy can continue</a:t>
            </a:r>
          </a:p>
        </p:txBody>
      </p:sp>
      <p:sp>
        <p:nvSpPr>
          <p:cNvPr id="61" name="TextBox 60"/>
          <p:cNvSpPr txBox="1"/>
          <p:nvPr/>
        </p:nvSpPr>
        <p:spPr>
          <a:xfrm>
            <a:off x="6492240" y="4407407"/>
            <a:ext cx="5212080" cy="411480"/>
          </a:xfrm>
          <a:prstGeom prst="rect">
            <a:avLst/>
          </a:prstGeom>
          <a:noFill/>
        </p:spPr>
        <p:txBody>
          <a:bodyPr wrap="square">
            <a:spAutoFit/>
          </a:bodyPr>
          <a:lstStyle/>
          <a:p>
            <a:pPr algn="l"/>
            <a:r>
              <a:rPr sz="850" b="0" i="0">
                <a:solidFill>
                  <a:srgbClr val="1A1A2E"/>
                </a:solidFill>
                <a:latin typeface="Calibri"/>
              </a:rPr>
              <a:t>Discounts are being used to drive volume without significantly sacrificing profit.</a:t>
            </a:r>
          </a:p>
        </p:txBody>
      </p:sp>
      <p:sp>
        <p:nvSpPr>
          <p:cNvPr id="62" name="TextBox 61"/>
          <p:cNvSpPr txBox="1"/>
          <p:nvPr/>
        </p:nvSpPr>
        <p:spPr>
          <a:xfrm>
            <a:off x="6492240" y="4882896"/>
            <a:ext cx="5212080" cy="274320"/>
          </a:xfrm>
          <a:prstGeom prst="rect">
            <a:avLst/>
          </a:prstGeom>
          <a:noFill/>
        </p:spPr>
        <p:txBody>
          <a:bodyPr wrap="square">
            <a:spAutoFit/>
          </a:bodyPr>
          <a:lstStyle/>
          <a:p>
            <a:pPr algn="l"/>
            <a:r>
              <a:rPr sz="950" b="1" i="0">
                <a:solidFill>
                  <a:srgbClr val="06786B"/>
                </a:solidFill>
                <a:latin typeface="Calibri"/>
              </a:rPr>
              <a:t>Groceries — volume play confirmed</a:t>
            </a:r>
          </a:p>
        </p:txBody>
      </p:sp>
      <p:sp>
        <p:nvSpPr>
          <p:cNvPr id="63" name="TextBox 62"/>
          <p:cNvSpPr txBox="1"/>
          <p:nvPr/>
        </p:nvSpPr>
        <p:spPr>
          <a:xfrm>
            <a:off x="6492240" y="5157216"/>
            <a:ext cx="5212080" cy="411480"/>
          </a:xfrm>
          <a:prstGeom prst="rect">
            <a:avLst/>
          </a:prstGeom>
          <a:noFill/>
        </p:spPr>
        <p:txBody>
          <a:bodyPr wrap="square">
            <a:spAutoFit/>
          </a:bodyPr>
          <a:lstStyle/>
          <a:p>
            <a:pPr algn="l"/>
            <a:r>
              <a:rPr sz="850" b="0" i="0">
                <a:solidFill>
                  <a:srgbClr val="1A1A2E"/>
                </a:solidFill>
                <a:latin typeface="Calibri"/>
              </a:rPr>
              <a:t>Groceries has lower revenue but consistent margins — it is a high-frequency low-value category.</a:t>
            </a:r>
          </a:p>
        </p:txBody>
      </p:sp>
      <p:sp>
        <p:nvSpPr>
          <p:cNvPr id="64" name="TextBox 63"/>
          <p:cNvSpPr txBox="1"/>
          <p:nvPr/>
        </p:nvSpPr>
        <p:spPr>
          <a:xfrm>
            <a:off x="6492240" y="5632704"/>
            <a:ext cx="5212080" cy="274320"/>
          </a:xfrm>
          <a:prstGeom prst="rect">
            <a:avLst/>
          </a:prstGeom>
          <a:noFill/>
        </p:spPr>
        <p:txBody>
          <a:bodyPr wrap="square">
            <a:spAutoFit/>
          </a:bodyPr>
          <a:lstStyle/>
          <a:p>
            <a:pPr algn="l"/>
            <a:r>
              <a:rPr sz="950" b="1" i="0">
                <a:solidFill>
                  <a:srgbClr val="06786B"/>
                </a:solidFill>
                <a:latin typeface="Calibri"/>
              </a:rPr>
              <a:t>Recommendation</a:t>
            </a:r>
          </a:p>
        </p:txBody>
      </p:sp>
      <p:sp>
        <p:nvSpPr>
          <p:cNvPr id="65" name="TextBox 64"/>
          <p:cNvSpPr txBox="1"/>
          <p:nvPr/>
        </p:nvSpPr>
        <p:spPr>
          <a:xfrm>
            <a:off x="6492240" y="5907024"/>
            <a:ext cx="5212080" cy="411480"/>
          </a:xfrm>
          <a:prstGeom prst="rect">
            <a:avLst/>
          </a:prstGeom>
          <a:noFill/>
        </p:spPr>
        <p:txBody>
          <a:bodyPr wrap="square">
            <a:spAutoFit/>
          </a:bodyPr>
          <a:lstStyle/>
          <a:p>
            <a:pPr algn="l"/>
            <a:r>
              <a:rPr sz="850" b="0" i="0">
                <a:solidFill>
                  <a:srgbClr val="1A1A2E"/>
                </a:solidFill>
                <a:latin typeface="Calibri"/>
              </a:rPr>
              <a:t>Maintain current discount policy. Introduce a cap of 15% on Sports category specifically.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502920"/>
          </a:xfrm>
          <a:prstGeom prst="rect">
            <a:avLst/>
          </a:prstGeom>
          <a:noFill/>
        </p:spPr>
        <p:txBody>
          <a:bodyPr wrap="square">
            <a:spAutoFit/>
          </a:bodyPr>
          <a:lstStyle/>
          <a:p>
            <a:pPr algn="l"/>
            <a:r>
              <a:rPr sz="2200" b="1" i="0">
                <a:solidFill>
                  <a:srgbClr val="FFFFFF"/>
                </a:solidFill>
                <a:latin typeface="Calibri"/>
              </a:rPr>
              <a:t>REGIONAL PERFORMANCE</a:t>
            </a:r>
          </a:p>
        </p:txBody>
      </p:sp>
      <p:sp>
        <p:nvSpPr>
          <p:cNvPr id="4" name="TextBox 3"/>
          <p:cNvSpPr txBox="1"/>
          <p:nvPr/>
        </p:nvSpPr>
        <p:spPr>
          <a:xfrm>
            <a:off x="8686800" y="228600"/>
            <a:ext cx="3200400" cy="365760"/>
          </a:xfrm>
          <a:prstGeom prst="rect">
            <a:avLst/>
          </a:prstGeom>
          <a:noFill/>
        </p:spPr>
        <p:txBody>
          <a:bodyPr wrap="square">
            <a:spAutoFit/>
          </a:bodyPr>
          <a:lstStyle/>
          <a:p>
            <a:pPr algn="r"/>
            <a:r>
              <a:rPr sz="1000" b="0" i="0">
                <a:solidFill>
                  <a:srgbClr val="CADCFC"/>
                </a:solidFill>
                <a:latin typeface="Calibri"/>
              </a:rPr>
              <a:t>Page 3 of Dashboard</a:t>
            </a:r>
          </a:p>
        </p:txBody>
      </p:sp>
      <p:sp>
        <p:nvSpPr>
          <p:cNvPr id="5" name="Rectangle 4"/>
          <p:cNvSpPr/>
          <p:nvPr/>
        </p:nvSpPr>
        <p:spPr>
          <a:xfrm>
            <a:off x="365760" y="960120"/>
            <a:ext cx="5669280" cy="5440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64008" cy="54406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24128"/>
            <a:ext cx="5303520" cy="365760"/>
          </a:xfrm>
          <a:prstGeom prst="rect">
            <a:avLst/>
          </a:prstGeom>
          <a:noFill/>
        </p:spPr>
        <p:txBody>
          <a:bodyPr wrap="square">
            <a:spAutoFit/>
          </a:bodyPr>
          <a:lstStyle/>
          <a:p>
            <a:pPr algn="l"/>
            <a:r>
              <a:rPr sz="1100" b="1" i="0">
                <a:solidFill>
                  <a:srgbClr val="1E2761"/>
                </a:solidFill>
                <a:latin typeface="Calibri"/>
              </a:rPr>
              <a:t>🗺️  Regional Sales Ranking</a:t>
            </a:r>
          </a:p>
        </p:txBody>
      </p:sp>
      <p:sp>
        <p:nvSpPr>
          <p:cNvPr id="8" name="Rectangle 7"/>
          <p:cNvSpPr/>
          <p:nvPr/>
        </p:nvSpPr>
        <p:spPr>
          <a:xfrm>
            <a:off x="384048" y="1463040"/>
            <a:ext cx="5623560" cy="43891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36192"/>
            <a:ext cx="457200" cy="274320"/>
          </a:xfrm>
          <a:prstGeom prst="rect">
            <a:avLst/>
          </a:prstGeom>
          <a:noFill/>
        </p:spPr>
        <p:txBody>
          <a:bodyPr wrap="square">
            <a:spAutoFit/>
          </a:bodyPr>
          <a:lstStyle/>
          <a:p>
            <a:pPr algn="ctr"/>
            <a:r>
              <a:rPr sz="850" b="1" i="0">
                <a:solidFill>
                  <a:srgbClr val="FFFFFF"/>
                </a:solidFill>
                <a:latin typeface="Calibri"/>
              </a:rPr>
              <a:t>Rank</a:t>
            </a:r>
          </a:p>
        </p:txBody>
      </p:sp>
      <p:sp>
        <p:nvSpPr>
          <p:cNvPr id="10" name="TextBox 9"/>
          <p:cNvSpPr txBox="1"/>
          <p:nvPr/>
        </p:nvSpPr>
        <p:spPr>
          <a:xfrm>
            <a:off x="868680" y="1536192"/>
            <a:ext cx="822960" cy="274320"/>
          </a:xfrm>
          <a:prstGeom prst="rect">
            <a:avLst/>
          </a:prstGeom>
          <a:noFill/>
        </p:spPr>
        <p:txBody>
          <a:bodyPr wrap="square">
            <a:spAutoFit/>
          </a:bodyPr>
          <a:lstStyle/>
          <a:p>
            <a:pPr algn="ctr"/>
            <a:r>
              <a:rPr sz="850" b="1" i="0">
                <a:solidFill>
                  <a:srgbClr val="FFFFFF"/>
                </a:solidFill>
                <a:latin typeface="Calibri"/>
              </a:rPr>
              <a:t>Region</a:t>
            </a:r>
          </a:p>
        </p:txBody>
      </p:sp>
      <p:sp>
        <p:nvSpPr>
          <p:cNvPr id="11" name="TextBox 10"/>
          <p:cNvSpPr txBox="1"/>
          <p:nvPr/>
        </p:nvSpPr>
        <p:spPr>
          <a:xfrm>
            <a:off x="1645920" y="1536192"/>
            <a:ext cx="1828800" cy="274320"/>
          </a:xfrm>
          <a:prstGeom prst="rect">
            <a:avLst/>
          </a:prstGeom>
          <a:noFill/>
        </p:spPr>
        <p:txBody>
          <a:bodyPr wrap="square">
            <a:spAutoFit/>
          </a:bodyPr>
          <a:lstStyle/>
          <a:p>
            <a:pPr algn="ctr"/>
            <a:r>
              <a:rPr sz="850" b="1" i="0">
                <a:solidFill>
                  <a:srgbClr val="FFFFFF"/>
                </a:solidFill>
                <a:latin typeface="Calibri"/>
              </a:rPr>
              <a:t>Total Sales</a:t>
            </a:r>
          </a:p>
        </p:txBody>
      </p:sp>
      <p:sp>
        <p:nvSpPr>
          <p:cNvPr id="12" name="TextBox 11"/>
          <p:cNvSpPr txBox="1"/>
          <p:nvPr/>
        </p:nvSpPr>
        <p:spPr>
          <a:xfrm>
            <a:off x="3383280" y="1536192"/>
            <a:ext cx="1828800" cy="274320"/>
          </a:xfrm>
          <a:prstGeom prst="rect">
            <a:avLst/>
          </a:prstGeom>
          <a:noFill/>
        </p:spPr>
        <p:txBody>
          <a:bodyPr wrap="square">
            <a:spAutoFit/>
          </a:bodyPr>
          <a:lstStyle/>
          <a:p>
            <a:pPr algn="ctr"/>
            <a:r>
              <a:rPr sz="850" b="1" i="0">
                <a:solidFill>
                  <a:srgbClr val="FFFFFF"/>
                </a:solidFill>
                <a:latin typeface="Calibri"/>
              </a:rPr>
              <a:t>Total Profit</a:t>
            </a:r>
          </a:p>
        </p:txBody>
      </p:sp>
      <p:sp>
        <p:nvSpPr>
          <p:cNvPr id="13" name="TextBox 12"/>
          <p:cNvSpPr txBox="1"/>
          <p:nvPr/>
        </p:nvSpPr>
        <p:spPr>
          <a:xfrm>
            <a:off x="5120640" y="1536192"/>
            <a:ext cx="1005840" cy="274320"/>
          </a:xfrm>
          <a:prstGeom prst="rect">
            <a:avLst/>
          </a:prstGeom>
          <a:noFill/>
        </p:spPr>
        <p:txBody>
          <a:bodyPr wrap="square">
            <a:spAutoFit/>
          </a:bodyPr>
          <a:lstStyle/>
          <a:p>
            <a:pPr algn="ctr"/>
            <a:r>
              <a:rPr sz="850" b="1" i="0">
                <a:solidFill>
                  <a:srgbClr val="FFFFFF"/>
                </a:solidFill>
                <a:latin typeface="Calibri"/>
              </a:rPr>
              <a:t>Margin</a:t>
            </a:r>
          </a:p>
        </p:txBody>
      </p:sp>
      <p:sp>
        <p:nvSpPr>
          <p:cNvPr id="14" name="Rectangle 13"/>
          <p:cNvSpPr/>
          <p:nvPr/>
        </p:nvSpPr>
        <p:spPr>
          <a:xfrm>
            <a:off x="384048" y="1965960"/>
            <a:ext cx="5623560" cy="74980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167128"/>
            <a:ext cx="457200" cy="347472"/>
          </a:xfrm>
          <a:prstGeom prst="rect">
            <a:avLst/>
          </a:prstGeom>
          <a:noFill/>
        </p:spPr>
        <p:txBody>
          <a:bodyPr wrap="square">
            <a:spAutoFit/>
          </a:bodyPr>
          <a:lstStyle/>
          <a:p>
            <a:pPr algn="ctr"/>
            <a:r>
              <a:rPr sz="900" b="1" i="0">
                <a:solidFill>
                  <a:srgbClr val="1A1A2E"/>
                </a:solidFill>
                <a:latin typeface="Calibri"/>
              </a:rPr>
              <a:t>1</a:t>
            </a:r>
          </a:p>
        </p:txBody>
      </p:sp>
      <p:sp>
        <p:nvSpPr>
          <p:cNvPr id="16" name="TextBox 15"/>
          <p:cNvSpPr txBox="1"/>
          <p:nvPr/>
        </p:nvSpPr>
        <p:spPr>
          <a:xfrm>
            <a:off x="868680" y="2167128"/>
            <a:ext cx="822960" cy="347472"/>
          </a:xfrm>
          <a:prstGeom prst="rect">
            <a:avLst/>
          </a:prstGeom>
          <a:noFill/>
        </p:spPr>
        <p:txBody>
          <a:bodyPr wrap="square">
            <a:spAutoFit/>
          </a:bodyPr>
          <a:lstStyle/>
          <a:p>
            <a:pPr algn="l"/>
            <a:r>
              <a:rPr sz="900" b="1" i="0">
                <a:solidFill>
                  <a:srgbClr val="1E2761"/>
                </a:solidFill>
                <a:latin typeface="Calibri"/>
              </a:rPr>
              <a:t>🥇  West</a:t>
            </a:r>
          </a:p>
        </p:txBody>
      </p:sp>
      <p:sp>
        <p:nvSpPr>
          <p:cNvPr id="17" name="TextBox 16"/>
          <p:cNvSpPr txBox="1"/>
          <p:nvPr/>
        </p:nvSpPr>
        <p:spPr>
          <a:xfrm>
            <a:off x="1645920" y="2167128"/>
            <a:ext cx="1828800" cy="347472"/>
          </a:xfrm>
          <a:prstGeom prst="rect">
            <a:avLst/>
          </a:prstGeom>
          <a:noFill/>
        </p:spPr>
        <p:txBody>
          <a:bodyPr wrap="square">
            <a:spAutoFit/>
          </a:bodyPr>
          <a:lstStyle/>
          <a:p>
            <a:pPr algn="ctr"/>
            <a:r>
              <a:rPr sz="900" b="1" i="0">
                <a:solidFill>
                  <a:srgbClr val="1A1A2E"/>
                </a:solidFill>
                <a:latin typeface="Calibri"/>
              </a:rPr>
              <a:t>₦480M+</a:t>
            </a:r>
          </a:p>
        </p:txBody>
      </p:sp>
      <p:sp>
        <p:nvSpPr>
          <p:cNvPr id="18" name="TextBox 17"/>
          <p:cNvSpPr txBox="1"/>
          <p:nvPr/>
        </p:nvSpPr>
        <p:spPr>
          <a:xfrm>
            <a:off x="3383280" y="2167128"/>
            <a:ext cx="1828800" cy="347472"/>
          </a:xfrm>
          <a:prstGeom prst="rect">
            <a:avLst/>
          </a:prstGeom>
          <a:noFill/>
        </p:spPr>
        <p:txBody>
          <a:bodyPr wrap="square">
            <a:spAutoFit/>
          </a:bodyPr>
          <a:lstStyle/>
          <a:p>
            <a:pPr algn="ctr"/>
            <a:r>
              <a:rPr sz="900" b="1" i="0">
                <a:solidFill>
                  <a:srgbClr val="1A1A2E"/>
                </a:solidFill>
                <a:latin typeface="Calibri"/>
              </a:rPr>
              <a:t>₦195M+</a:t>
            </a:r>
          </a:p>
        </p:txBody>
      </p:sp>
      <p:sp>
        <p:nvSpPr>
          <p:cNvPr id="19" name="TextBox 18"/>
          <p:cNvSpPr txBox="1"/>
          <p:nvPr/>
        </p:nvSpPr>
        <p:spPr>
          <a:xfrm>
            <a:off x="5120640" y="2167128"/>
            <a:ext cx="1005840" cy="347472"/>
          </a:xfrm>
          <a:prstGeom prst="rect">
            <a:avLst/>
          </a:prstGeom>
          <a:noFill/>
        </p:spPr>
        <p:txBody>
          <a:bodyPr wrap="square">
            <a:spAutoFit/>
          </a:bodyPr>
          <a:lstStyle/>
          <a:p>
            <a:pPr algn="ctr"/>
            <a:r>
              <a:rPr sz="900" b="1" i="0">
                <a:solidFill>
                  <a:srgbClr val="1A1A2E"/>
                </a:solidFill>
                <a:latin typeface="Calibri"/>
              </a:rPr>
              <a:t>~41%</a:t>
            </a:r>
          </a:p>
        </p:txBody>
      </p:sp>
      <p:sp>
        <p:nvSpPr>
          <p:cNvPr id="20" name="Rectangle 19"/>
          <p:cNvSpPr/>
          <p:nvPr/>
        </p:nvSpPr>
        <p:spPr>
          <a:xfrm>
            <a:off x="384048" y="2770632"/>
            <a:ext cx="5623560" cy="74980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2971800"/>
            <a:ext cx="457200" cy="347472"/>
          </a:xfrm>
          <a:prstGeom prst="rect">
            <a:avLst/>
          </a:prstGeom>
          <a:noFill/>
        </p:spPr>
        <p:txBody>
          <a:bodyPr wrap="square">
            <a:spAutoFit/>
          </a:bodyPr>
          <a:lstStyle/>
          <a:p>
            <a:pPr algn="ctr"/>
            <a:r>
              <a:rPr sz="900" b="0" i="0">
                <a:solidFill>
                  <a:srgbClr val="1A1A2E"/>
                </a:solidFill>
                <a:latin typeface="Calibri"/>
              </a:rPr>
              <a:t>2</a:t>
            </a:r>
          </a:p>
        </p:txBody>
      </p:sp>
      <p:sp>
        <p:nvSpPr>
          <p:cNvPr id="22" name="TextBox 21"/>
          <p:cNvSpPr txBox="1"/>
          <p:nvPr/>
        </p:nvSpPr>
        <p:spPr>
          <a:xfrm>
            <a:off x="868680" y="2971800"/>
            <a:ext cx="822960" cy="347472"/>
          </a:xfrm>
          <a:prstGeom prst="rect">
            <a:avLst/>
          </a:prstGeom>
          <a:noFill/>
        </p:spPr>
        <p:txBody>
          <a:bodyPr wrap="square">
            <a:spAutoFit/>
          </a:bodyPr>
          <a:lstStyle/>
          <a:p>
            <a:pPr algn="l"/>
            <a:r>
              <a:rPr sz="900" b="0" i="0">
                <a:solidFill>
                  <a:srgbClr val="1E2761"/>
                </a:solidFill>
                <a:latin typeface="Calibri"/>
              </a:rPr>
              <a:t>🥈  Central</a:t>
            </a:r>
          </a:p>
        </p:txBody>
      </p:sp>
      <p:sp>
        <p:nvSpPr>
          <p:cNvPr id="23" name="TextBox 22"/>
          <p:cNvSpPr txBox="1"/>
          <p:nvPr/>
        </p:nvSpPr>
        <p:spPr>
          <a:xfrm>
            <a:off x="1645920" y="2971800"/>
            <a:ext cx="1828800" cy="347472"/>
          </a:xfrm>
          <a:prstGeom prst="rect">
            <a:avLst/>
          </a:prstGeom>
          <a:noFill/>
        </p:spPr>
        <p:txBody>
          <a:bodyPr wrap="square">
            <a:spAutoFit/>
          </a:bodyPr>
          <a:lstStyle/>
          <a:p>
            <a:pPr algn="ctr"/>
            <a:r>
              <a:rPr sz="900" b="0" i="0">
                <a:solidFill>
                  <a:srgbClr val="1A1A2E"/>
                </a:solidFill>
                <a:latin typeface="Calibri"/>
              </a:rPr>
              <a:t>₦460M+</a:t>
            </a:r>
          </a:p>
        </p:txBody>
      </p:sp>
      <p:sp>
        <p:nvSpPr>
          <p:cNvPr id="24" name="TextBox 23"/>
          <p:cNvSpPr txBox="1"/>
          <p:nvPr/>
        </p:nvSpPr>
        <p:spPr>
          <a:xfrm>
            <a:off x="3383280" y="2971800"/>
            <a:ext cx="1828800" cy="347472"/>
          </a:xfrm>
          <a:prstGeom prst="rect">
            <a:avLst/>
          </a:prstGeom>
          <a:noFill/>
        </p:spPr>
        <p:txBody>
          <a:bodyPr wrap="square">
            <a:spAutoFit/>
          </a:bodyPr>
          <a:lstStyle/>
          <a:p>
            <a:pPr algn="ctr"/>
            <a:r>
              <a:rPr sz="900" b="0" i="0">
                <a:solidFill>
                  <a:srgbClr val="1A1A2E"/>
                </a:solidFill>
                <a:latin typeface="Calibri"/>
              </a:rPr>
              <a:t>₦185M+</a:t>
            </a:r>
          </a:p>
        </p:txBody>
      </p:sp>
      <p:sp>
        <p:nvSpPr>
          <p:cNvPr id="25" name="TextBox 24"/>
          <p:cNvSpPr txBox="1"/>
          <p:nvPr/>
        </p:nvSpPr>
        <p:spPr>
          <a:xfrm>
            <a:off x="5120640" y="2971800"/>
            <a:ext cx="1005840" cy="347472"/>
          </a:xfrm>
          <a:prstGeom prst="rect">
            <a:avLst/>
          </a:prstGeom>
          <a:noFill/>
        </p:spPr>
        <p:txBody>
          <a:bodyPr wrap="square">
            <a:spAutoFit/>
          </a:bodyPr>
          <a:lstStyle/>
          <a:p>
            <a:pPr algn="ctr"/>
            <a:r>
              <a:rPr sz="900" b="0" i="0">
                <a:solidFill>
                  <a:srgbClr val="1A1A2E"/>
                </a:solidFill>
                <a:latin typeface="Calibri"/>
              </a:rPr>
              <a:t>~41%</a:t>
            </a:r>
          </a:p>
        </p:txBody>
      </p:sp>
      <p:sp>
        <p:nvSpPr>
          <p:cNvPr id="26" name="Rectangle 25"/>
          <p:cNvSpPr/>
          <p:nvPr/>
        </p:nvSpPr>
        <p:spPr>
          <a:xfrm>
            <a:off x="384048" y="3575304"/>
            <a:ext cx="562356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3776472"/>
            <a:ext cx="457200" cy="347472"/>
          </a:xfrm>
          <a:prstGeom prst="rect">
            <a:avLst/>
          </a:prstGeom>
          <a:noFill/>
        </p:spPr>
        <p:txBody>
          <a:bodyPr wrap="square">
            <a:spAutoFit/>
          </a:bodyPr>
          <a:lstStyle/>
          <a:p>
            <a:pPr algn="ctr"/>
            <a:r>
              <a:rPr sz="900" b="0" i="0">
                <a:solidFill>
                  <a:srgbClr val="1A1A2E"/>
                </a:solidFill>
                <a:latin typeface="Calibri"/>
              </a:rPr>
              <a:t>3</a:t>
            </a:r>
          </a:p>
        </p:txBody>
      </p:sp>
      <p:sp>
        <p:nvSpPr>
          <p:cNvPr id="28" name="TextBox 27"/>
          <p:cNvSpPr txBox="1"/>
          <p:nvPr/>
        </p:nvSpPr>
        <p:spPr>
          <a:xfrm>
            <a:off x="868680" y="3776472"/>
            <a:ext cx="822960" cy="347472"/>
          </a:xfrm>
          <a:prstGeom prst="rect">
            <a:avLst/>
          </a:prstGeom>
          <a:noFill/>
        </p:spPr>
        <p:txBody>
          <a:bodyPr wrap="square">
            <a:spAutoFit/>
          </a:bodyPr>
          <a:lstStyle/>
          <a:p>
            <a:pPr algn="l"/>
            <a:r>
              <a:rPr sz="900" b="0" i="0">
                <a:solidFill>
                  <a:srgbClr val="1E2761"/>
                </a:solidFill>
                <a:latin typeface="Calibri"/>
              </a:rPr>
              <a:t>🥉  North</a:t>
            </a:r>
          </a:p>
        </p:txBody>
      </p:sp>
      <p:sp>
        <p:nvSpPr>
          <p:cNvPr id="29" name="TextBox 28"/>
          <p:cNvSpPr txBox="1"/>
          <p:nvPr/>
        </p:nvSpPr>
        <p:spPr>
          <a:xfrm>
            <a:off x="1645920" y="3776472"/>
            <a:ext cx="1828800" cy="347472"/>
          </a:xfrm>
          <a:prstGeom prst="rect">
            <a:avLst/>
          </a:prstGeom>
          <a:noFill/>
        </p:spPr>
        <p:txBody>
          <a:bodyPr wrap="square">
            <a:spAutoFit/>
          </a:bodyPr>
          <a:lstStyle/>
          <a:p>
            <a:pPr algn="ctr"/>
            <a:r>
              <a:rPr sz="900" b="0" i="0">
                <a:solidFill>
                  <a:srgbClr val="1A1A2E"/>
                </a:solidFill>
                <a:latin typeface="Calibri"/>
              </a:rPr>
              <a:t>₦440M+</a:t>
            </a:r>
          </a:p>
        </p:txBody>
      </p:sp>
      <p:sp>
        <p:nvSpPr>
          <p:cNvPr id="30" name="TextBox 29"/>
          <p:cNvSpPr txBox="1"/>
          <p:nvPr/>
        </p:nvSpPr>
        <p:spPr>
          <a:xfrm>
            <a:off x="3383280" y="3776472"/>
            <a:ext cx="1828800" cy="347472"/>
          </a:xfrm>
          <a:prstGeom prst="rect">
            <a:avLst/>
          </a:prstGeom>
          <a:noFill/>
        </p:spPr>
        <p:txBody>
          <a:bodyPr wrap="square">
            <a:spAutoFit/>
          </a:bodyPr>
          <a:lstStyle/>
          <a:p>
            <a:pPr algn="ctr"/>
            <a:r>
              <a:rPr sz="900" b="0" i="0">
                <a:solidFill>
                  <a:srgbClr val="1A1A2E"/>
                </a:solidFill>
                <a:latin typeface="Calibri"/>
              </a:rPr>
              <a:t>₦175M+</a:t>
            </a:r>
          </a:p>
        </p:txBody>
      </p:sp>
      <p:sp>
        <p:nvSpPr>
          <p:cNvPr id="31" name="TextBox 30"/>
          <p:cNvSpPr txBox="1"/>
          <p:nvPr/>
        </p:nvSpPr>
        <p:spPr>
          <a:xfrm>
            <a:off x="5120640" y="3776472"/>
            <a:ext cx="1005840" cy="347472"/>
          </a:xfrm>
          <a:prstGeom prst="rect">
            <a:avLst/>
          </a:prstGeom>
          <a:noFill/>
        </p:spPr>
        <p:txBody>
          <a:bodyPr wrap="square">
            <a:spAutoFit/>
          </a:bodyPr>
          <a:lstStyle/>
          <a:p>
            <a:pPr algn="ctr"/>
            <a:r>
              <a:rPr sz="900" b="0" i="0">
                <a:solidFill>
                  <a:srgbClr val="1A1A2E"/>
                </a:solidFill>
                <a:latin typeface="Calibri"/>
              </a:rPr>
              <a:t>~41%</a:t>
            </a:r>
          </a:p>
        </p:txBody>
      </p:sp>
      <p:sp>
        <p:nvSpPr>
          <p:cNvPr id="32" name="Rectangle 31"/>
          <p:cNvSpPr/>
          <p:nvPr/>
        </p:nvSpPr>
        <p:spPr>
          <a:xfrm>
            <a:off x="384048" y="4379976"/>
            <a:ext cx="5623560" cy="74980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4581144"/>
            <a:ext cx="457200" cy="347472"/>
          </a:xfrm>
          <a:prstGeom prst="rect">
            <a:avLst/>
          </a:prstGeom>
          <a:noFill/>
        </p:spPr>
        <p:txBody>
          <a:bodyPr wrap="square">
            <a:spAutoFit/>
          </a:bodyPr>
          <a:lstStyle/>
          <a:p>
            <a:pPr algn="ctr"/>
            <a:r>
              <a:rPr sz="900" b="0" i="0">
                <a:solidFill>
                  <a:srgbClr val="1A1A2E"/>
                </a:solidFill>
                <a:latin typeface="Calibri"/>
              </a:rPr>
              <a:t>4</a:t>
            </a:r>
          </a:p>
        </p:txBody>
      </p:sp>
      <p:sp>
        <p:nvSpPr>
          <p:cNvPr id="34" name="TextBox 33"/>
          <p:cNvSpPr txBox="1"/>
          <p:nvPr/>
        </p:nvSpPr>
        <p:spPr>
          <a:xfrm>
            <a:off x="868680" y="4581144"/>
            <a:ext cx="822960" cy="347472"/>
          </a:xfrm>
          <a:prstGeom prst="rect">
            <a:avLst/>
          </a:prstGeom>
          <a:noFill/>
        </p:spPr>
        <p:txBody>
          <a:bodyPr wrap="square">
            <a:spAutoFit/>
          </a:bodyPr>
          <a:lstStyle/>
          <a:p>
            <a:pPr algn="l"/>
            <a:r>
              <a:rPr sz="900" b="0" i="0">
                <a:solidFill>
                  <a:srgbClr val="1E2761"/>
                </a:solidFill>
                <a:latin typeface="Calibri"/>
              </a:rPr>
              <a:t>East</a:t>
            </a:r>
          </a:p>
        </p:txBody>
      </p:sp>
      <p:sp>
        <p:nvSpPr>
          <p:cNvPr id="35" name="TextBox 34"/>
          <p:cNvSpPr txBox="1"/>
          <p:nvPr/>
        </p:nvSpPr>
        <p:spPr>
          <a:xfrm>
            <a:off x="1645920" y="4581144"/>
            <a:ext cx="1828800" cy="347472"/>
          </a:xfrm>
          <a:prstGeom prst="rect">
            <a:avLst/>
          </a:prstGeom>
          <a:noFill/>
        </p:spPr>
        <p:txBody>
          <a:bodyPr wrap="square">
            <a:spAutoFit/>
          </a:bodyPr>
          <a:lstStyle/>
          <a:p>
            <a:pPr algn="ctr"/>
            <a:r>
              <a:rPr sz="900" b="0" i="0">
                <a:solidFill>
                  <a:srgbClr val="1A1A2E"/>
                </a:solidFill>
                <a:latin typeface="Calibri"/>
              </a:rPr>
              <a:t>₦390M+</a:t>
            </a:r>
          </a:p>
        </p:txBody>
      </p:sp>
      <p:sp>
        <p:nvSpPr>
          <p:cNvPr id="36" name="TextBox 35"/>
          <p:cNvSpPr txBox="1"/>
          <p:nvPr/>
        </p:nvSpPr>
        <p:spPr>
          <a:xfrm>
            <a:off x="3383280" y="4581144"/>
            <a:ext cx="1828800" cy="347472"/>
          </a:xfrm>
          <a:prstGeom prst="rect">
            <a:avLst/>
          </a:prstGeom>
          <a:noFill/>
        </p:spPr>
        <p:txBody>
          <a:bodyPr wrap="square">
            <a:spAutoFit/>
          </a:bodyPr>
          <a:lstStyle/>
          <a:p>
            <a:pPr algn="ctr"/>
            <a:r>
              <a:rPr sz="900" b="0" i="0">
                <a:solidFill>
                  <a:srgbClr val="1A1A2E"/>
                </a:solidFill>
                <a:latin typeface="Calibri"/>
              </a:rPr>
              <a:t>₦155M+</a:t>
            </a:r>
          </a:p>
        </p:txBody>
      </p:sp>
      <p:sp>
        <p:nvSpPr>
          <p:cNvPr id="37" name="TextBox 36"/>
          <p:cNvSpPr txBox="1"/>
          <p:nvPr/>
        </p:nvSpPr>
        <p:spPr>
          <a:xfrm>
            <a:off x="5120640" y="4581144"/>
            <a:ext cx="1005840" cy="347472"/>
          </a:xfrm>
          <a:prstGeom prst="rect">
            <a:avLst/>
          </a:prstGeom>
          <a:noFill/>
        </p:spPr>
        <p:txBody>
          <a:bodyPr wrap="square">
            <a:spAutoFit/>
          </a:bodyPr>
          <a:lstStyle/>
          <a:p>
            <a:pPr algn="ctr"/>
            <a:r>
              <a:rPr sz="900" b="0" i="0">
                <a:solidFill>
                  <a:srgbClr val="1A1A2E"/>
                </a:solidFill>
                <a:latin typeface="Calibri"/>
              </a:rPr>
              <a:t>~41%</a:t>
            </a:r>
          </a:p>
        </p:txBody>
      </p:sp>
      <p:sp>
        <p:nvSpPr>
          <p:cNvPr id="38" name="Rectangle 37"/>
          <p:cNvSpPr/>
          <p:nvPr/>
        </p:nvSpPr>
        <p:spPr>
          <a:xfrm>
            <a:off x="384048" y="5184648"/>
            <a:ext cx="562356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2920" y="5385816"/>
            <a:ext cx="457200" cy="347472"/>
          </a:xfrm>
          <a:prstGeom prst="rect">
            <a:avLst/>
          </a:prstGeom>
          <a:noFill/>
        </p:spPr>
        <p:txBody>
          <a:bodyPr wrap="square">
            <a:spAutoFit/>
          </a:bodyPr>
          <a:lstStyle/>
          <a:p>
            <a:pPr algn="ctr"/>
            <a:r>
              <a:rPr sz="900" b="0" i="0">
                <a:solidFill>
                  <a:srgbClr val="1A1A2E"/>
                </a:solidFill>
                <a:latin typeface="Calibri"/>
              </a:rPr>
              <a:t>5</a:t>
            </a:r>
          </a:p>
        </p:txBody>
      </p:sp>
      <p:sp>
        <p:nvSpPr>
          <p:cNvPr id="40" name="TextBox 39"/>
          <p:cNvSpPr txBox="1"/>
          <p:nvPr/>
        </p:nvSpPr>
        <p:spPr>
          <a:xfrm>
            <a:off x="868680" y="5385816"/>
            <a:ext cx="822960" cy="347472"/>
          </a:xfrm>
          <a:prstGeom prst="rect">
            <a:avLst/>
          </a:prstGeom>
          <a:noFill/>
        </p:spPr>
        <p:txBody>
          <a:bodyPr wrap="square">
            <a:spAutoFit/>
          </a:bodyPr>
          <a:lstStyle/>
          <a:p>
            <a:pPr algn="l"/>
            <a:r>
              <a:rPr sz="900" b="0" i="0">
                <a:solidFill>
                  <a:srgbClr val="1E2761"/>
                </a:solidFill>
                <a:latin typeface="Calibri"/>
              </a:rPr>
              <a:t>South</a:t>
            </a:r>
          </a:p>
        </p:txBody>
      </p:sp>
      <p:sp>
        <p:nvSpPr>
          <p:cNvPr id="41" name="TextBox 40"/>
          <p:cNvSpPr txBox="1"/>
          <p:nvPr/>
        </p:nvSpPr>
        <p:spPr>
          <a:xfrm>
            <a:off x="1645920" y="5385816"/>
            <a:ext cx="1828800" cy="347472"/>
          </a:xfrm>
          <a:prstGeom prst="rect">
            <a:avLst/>
          </a:prstGeom>
          <a:noFill/>
        </p:spPr>
        <p:txBody>
          <a:bodyPr wrap="square">
            <a:spAutoFit/>
          </a:bodyPr>
          <a:lstStyle/>
          <a:p>
            <a:pPr algn="ctr"/>
            <a:r>
              <a:rPr sz="900" b="0" i="0">
                <a:solidFill>
                  <a:srgbClr val="1A1A2E"/>
                </a:solidFill>
                <a:latin typeface="Calibri"/>
              </a:rPr>
              <a:t>₦370M+</a:t>
            </a:r>
          </a:p>
        </p:txBody>
      </p:sp>
      <p:sp>
        <p:nvSpPr>
          <p:cNvPr id="42" name="TextBox 41"/>
          <p:cNvSpPr txBox="1"/>
          <p:nvPr/>
        </p:nvSpPr>
        <p:spPr>
          <a:xfrm>
            <a:off x="3383280" y="5385816"/>
            <a:ext cx="1828800" cy="347472"/>
          </a:xfrm>
          <a:prstGeom prst="rect">
            <a:avLst/>
          </a:prstGeom>
          <a:noFill/>
        </p:spPr>
        <p:txBody>
          <a:bodyPr wrap="square">
            <a:spAutoFit/>
          </a:bodyPr>
          <a:lstStyle/>
          <a:p>
            <a:pPr algn="ctr"/>
            <a:r>
              <a:rPr sz="900" b="0" i="0">
                <a:solidFill>
                  <a:srgbClr val="1A1A2E"/>
                </a:solidFill>
                <a:latin typeface="Calibri"/>
              </a:rPr>
              <a:t>₦148M+</a:t>
            </a:r>
          </a:p>
        </p:txBody>
      </p:sp>
      <p:sp>
        <p:nvSpPr>
          <p:cNvPr id="43" name="TextBox 42"/>
          <p:cNvSpPr txBox="1"/>
          <p:nvPr/>
        </p:nvSpPr>
        <p:spPr>
          <a:xfrm>
            <a:off x="5120640" y="5385816"/>
            <a:ext cx="1005840" cy="347472"/>
          </a:xfrm>
          <a:prstGeom prst="rect">
            <a:avLst/>
          </a:prstGeom>
          <a:noFill/>
        </p:spPr>
        <p:txBody>
          <a:bodyPr wrap="square">
            <a:spAutoFit/>
          </a:bodyPr>
          <a:lstStyle/>
          <a:p>
            <a:pPr algn="ctr"/>
            <a:r>
              <a:rPr sz="900" b="0" i="0">
                <a:solidFill>
                  <a:srgbClr val="1A1A2E"/>
                </a:solidFill>
                <a:latin typeface="Calibri"/>
              </a:rPr>
              <a:t>~41%</a:t>
            </a:r>
          </a:p>
        </p:txBody>
      </p:sp>
      <p:sp>
        <p:nvSpPr>
          <p:cNvPr id="44" name="Rectangle 43"/>
          <p:cNvSpPr/>
          <p:nvPr/>
        </p:nvSpPr>
        <p:spPr>
          <a:xfrm>
            <a:off x="6309360" y="960120"/>
            <a:ext cx="54864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309360" y="960120"/>
            <a:ext cx="64008" cy="16916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2240" y="1069848"/>
            <a:ext cx="5212080" cy="347472"/>
          </a:xfrm>
          <a:prstGeom prst="rect">
            <a:avLst/>
          </a:prstGeom>
          <a:noFill/>
        </p:spPr>
        <p:txBody>
          <a:bodyPr wrap="square">
            <a:spAutoFit/>
          </a:bodyPr>
          <a:lstStyle/>
          <a:p>
            <a:pPr algn="l"/>
            <a:r>
              <a:rPr sz="1100" b="1" i="0">
                <a:solidFill>
                  <a:srgbClr val="1E2761"/>
                </a:solidFill>
                <a:latin typeface="Calibri"/>
              </a:rPr>
              <a:t>West Leads — Lagos Effect</a:t>
            </a:r>
          </a:p>
        </p:txBody>
      </p:sp>
      <p:sp>
        <p:nvSpPr>
          <p:cNvPr id="47" name="TextBox 46"/>
          <p:cNvSpPr txBox="1"/>
          <p:nvPr/>
        </p:nvSpPr>
        <p:spPr>
          <a:xfrm>
            <a:off x="6492240" y="1435608"/>
            <a:ext cx="5212080" cy="1097280"/>
          </a:xfrm>
          <a:prstGeom prst="rect">
            <a:avLst/>
          </a:prstGeom>
          <a:noFill/>
        </p:spPr>
        <p:txBody>
          <a:bodyPr wrap="square">
            <a:spAutoFit/>
          </a:bodyPr>
          <a:lstStyle/>
          <a:p>
            <a:pPr algn="l"/>
            <a:r>
              <a:rPr sz="950" b="0" i="0">
                <a:solidFill>
                  <a:srgbClr val="1A1A2E"/>
                </a:solidFill>
                <a:latin typeface="Calibri"/>
              </a:rPr>
              <a:t>Lagos alone drives much of West region's dominance. The large urban population and purchasing power make this the company's most valuable market.</a:t>
            </a:r>
          </a:p>
        </p:txBody>
      </p:sp>
      <p:sp>
        <p:nvSpPr>
          <p:cNvPr id="48" name="Rectangle 47"/>
          <p:cNvSpPr/>
          <p:nvPr/>
        </p:nvSpPr>
        <p:spPr>
          <a:xfrm>
            <a:off x="6309360" y="2788920"/>
            <a:ext cx="54864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309360" y="2788920"/>
            <a:ext cx="64008" cy="16916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92240" y="2898648"/>
            <a:ext cx="5212080" cy="347472"/>
          </a:xfrm>
          <a:prstGeom prst="rect">
            <a:avLst/>
          </a:prstGeom>
          <a:noFill/>
        </p:spPr>
        <p:txBody>
          <a:bodyPr wrap="square">
            <a:spAutoFit/>
          </a:bodyPr>
          <a:lstStyle/>
          <a:p>
            <a:pPr algn="l"/>
            <a:r>
              <a:rPr sz="1100" b="1" i="0">
                <a:solidFill>
                  <a:srgbClr val="1E2761"/>
                </a:solidFill>
                <a:latin typeface="Calibri"/>
              </a:rPr>
              <a:t>South Underperforms — Action Required</a:t>
            </a:r>
          </a:p>
        </p:txBody>
      </p:sp>
      <p:sp>
        <p:nvSpPr>
          <p:cNvPr id="51" name="TextBox 50"/>
          <p:cNvSpPr txBox="1"/>
          <p:nvPr/>
        </p:nvSpPr>
        <p:spPr>
          <a:xfrm>
            <a:off x="6492240" y="3264408"/>
            <a:ext cx="5212080" cy="1097280"/>
          </a:xfrm>
          <a:prstGeom prst="rect">
            <a:avLst/>
          </a:prstGeom>
          <a:noFill/>
        </p:spPr>
        <p:txBody>
          <a:bodyPr wrap="square">
            <a:spAutoFit/>
          </a:bodyPr>
          <a:lstStyle/>
          <a:p>
            <a:pPr algn="l"/>
            <a:r>
              <a:rPr sz="950" b="0" i="0">
                <a:solidFill>
                  <a:srgbClr val="1A1A2E"/>
                </a:solidFill>
                <a:latin typeface="Calibri"/>
              </a:rPr>
              <a:t>Despite containing Lagos in the West, the South region (Port Harcourt, Benin City) significantly underperforms. A targeted marketing push is needed.</a:t>
            </a:r>
          </a:p>
        </p:txBody>
      </p:sp>
      <p:sp>
        <p:nvSpPr>
          <p:cNvPr id="52" name="Rectangle 51"/>
          <p:cNvSpPr/>
          <p:nvPr/>
        </p:nvSpPr>
        <p:spPr>
          <a:xfrm>
            <a:off x="6309360" y="4617720"/>
            <a:ext cx="54864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309360" y="4617720"/>
            <a:ext cx="64008" cy="1691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92240" y="4727448"/>
            <a:ext cx="5212080" cy="347472"/>
          </a:xfrm>
          <a:prstGeom prst="rect">
            <a:avLst/>
          </a:prstGeom>
          <a:noFill/>
        </p:spPr>
        <p:txBody>
          <a:bodyPr wrap="square">
            <a:spAutoFit/>
          </a:bodyPr>
          <a:lstStyle/>
          <a:p>
            <a:pPr algn="l"/>
            <a:r>
              <a:rPr sz="1100" b="1" i="0">
                <a:solidFill>
                  <a:srgbClr val="1E2761"/>
                </a:solidFill>
                <a:latin typeface="Calibri"/>
              </a:rPr>
              <a:t>Margins Are Equal Across All Regions</a:t>
            </a:r>
          </a:p>
        </p:txBody>
      </p:sp>
      <p:sp>
        <p:nvSpPr>
          <p:cNvPr id="55" name="TextBox 54"/>
          <p:cNvSpPr txBox="1"/>
          <p:nvPr/>
        </p:nvSpPr>
        <p:spPr>
          <a:xfrm>
            <a:off x="6492240" y="5093208"/>
            <a:ext cx="5212080" cy="1097280"/>
          </a:xfrm>
          <a:prstGeom prst="rect">
            <a:avLst/>
          </a:prstGeom>
          <a:noFill/>
        </p:spPr>
        <p:txBody>
          <a:bodyPr wrap="square">
            <a:spAutoFit/>
          </a:bodyPr>
          <a:lstStyle/>
          <a:p>
            <a:pPr algn="l"/>
            <a:r>
              <a:rPr sz="950" b="0" i="0">
                <a:solidFill>
                  <a:srgbClr val="1A1A2E"/>
                </a:solidFill>
                <a:latin typeface="Calibri"/>
              </a:rPr>
              <a:t>All five regions maintain approximately 41% profit margin — the profitability issue is not regional. It is a volume challenge in the lower-ranked regions.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3B0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502920"/>
          </a:xfrm>
          <a:prstGeom prst="rect">
            <a:avLst/>
          </a:prstGeom>
          <a:noFill/>
        </p:spPr>
        <p:txBody>
          <a:bodyPr wrap="square">
            <a:spAutoFit/>
          </a:bodyPr>
          <a:lstStyle/>
          <a:p>
            <a:pPr algn="l"/>
            <a:r>
              <a:rPr sz="2200" b="1" i="0">
                <a:solidFill>
                  <a:srgbClr val="FFFFFF"/>
                </a:solidFill>
                <a:latin typeface="Calibri"/>
              </a:rPr>
              <a:t>CHANNEL &amp; PAYMENT ANALYSIS</a:t>
            </a:r>
          </a:p>
        </p:txBody>
      </p:sp>
      <p:sp>
        <p:nvSpPr>
          <p:cNvPr id="4" name="TextBox 3"/>
          <p:cNvSpPr txBox="1"/>
          <p:nvPr/>
        </p:nvSpPr>
        <p:spPr>
          <a:xfrm>
            <a:off x="8686800" y="228600"/>
            <a:ext cx="3200400" cy="365760"/>
          </a:xfrm>
          <a:prstGeom prst="rect">
            <a:avLst/>
          </a:prstGeom>
          <a:noFill/>
        </p:spPr>
        <p:txBody>
          <a:bodyPr wrap="square">
            <a:spAutoFit/>
          </a:bodyPr>
          <a:lstStyle/>
          <a:p>
            <a:pPr algn="r"/>
            <a:r>
              <a:rPr sz="1000" b="0" i="0">
                <a:solidFill>
                  <a:srgbClr val="D8B4FE"/>
                </a:solidFill>
                <a:latin typeface="Calibri"/>
              </a:rPr>
              <a:t>Page 4 of Dashboard</a:t>
            </a:r>
          </a:p>
        </p:txBody>
      </p:sp>
      <p:sp>
        <p:nvSpPr>
          <p:cNvPr id="5" name="Rectangle 4"/>
          <p:cNvSpPr/>
          <p:nvPr/>
        </p:nvSpPr>
        <p:spPr>
          <a:xfrm>
            <a:off x="365760" y="960120"/>
            <a:ext cx="5486400" cy="5440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64008" cy="544068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24128"/>
            <a:ext cx="5212080" cy="365760"/>
          </a:xfrm>
          <a:prstGeom prst="rect">
            <a:avLst/>
          </a:prstGeom>
          <a:noFill/>
        </p:spPr>
        <p:txBody>
          <a:bodyPr wrap="square">
            <a:spAutoFit/>
          </a:bodyPr>
          <a:lstStyle/>
          <a:p>
            <a:pPr algn="l"/>
            <a:r>
              <a:rPr sz="1100" b="1" i="0">
                <a:solidFill>
                  <a:srgbClr val="1E2761"/>
                </a:solidFill>
                <a:latin typeface="Calibri"/>
              </a:rPr>
              <a:t>📱  Sales Channel Performance</a:t>
            </a:r>
          </a:p>
        </p:txBody>
      </p:sp>
      <p:sp>
        <p:nvSpPr>
          <p:cNvPr id="8" name="Rectangle 7"/>
          <p:cNvSpPr/>
          <p:nvPr/>
        </p:nvSpPr>
        <p:spPr>
          <a:xfrm>
            <a:off x="457200" y="1572768"/>
            <a:ext cx="5303520" cy="13898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572768"/>
            <a:ext cx="73152" cy="13898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682495"/>
            <a:ext cx="2743200" cy="320040"/>
          </a:xfrm>
          <a:prstGeom prst="rect">
            <a:avLst/>
          </a:prstGeom>
          <a:noFill/>
        </p:spPr>
        <p:txBody>
          <a:bodyPr wrap="square">
            <a:spAutoFit/>
          </a:bodyPr>
          <a:lstStyle/>
          <a:p>
            <a:pPr algn="l"/>
            <a:r>
              <a:rPr sz="1200" b="1" i="0">
                <a:solidFill>
                  <a:srgbClr val="1E2761"/>
                </a:solidFill>
                <a:latin typeface="Calibri"/>
              </a:rPr>
              <a:t>In-Store</a:t>
            </a:r>
          </a:p>
        </p:txBody>
      </p:sp>
      <p:sp>
        <p:nvSpPr>
          <p:cNvPr id="11" name="TextBox 10"/>
          <p:cNvSpPr txBox="1"/>
          <p:nvPr/>
        </p:nvSpPr>
        <p:spPr>
          <a:xfrm>
            <a:off x="640080" y="2011680"/>
            <a:ext cx="2743200" cy="274320"/>
          </a:xfrm>
          <a:prstGeom prst="rect">
            <a:avLst/>
          </a:prstGeom>
          <a:noFill/>
        </p:spPr>
        <p:txBody>
          <a:bodyPr wrap="square">
            <a:spAutoFit/>
          </a:bodyPr>
          <a:lstStyle/>
          <a:p>
            <a:pPr algn="l"/>
            <a:r>
              <a:rPr sz="900" b="0" i="0">
                <a:solidFill>
                  <a:srgbClr val="64748B"/>
                </a:solidFill>
                <a:latin typeface="Calibri"/>
              </a:rPr>
              <a:t>34.78% of total sales</a:t>
            </a:r>
          </a:p>
        </p:txBody>
      </p:sp>
      <p:sp>
        <p:nvSpPr>
          <p:cNvPr id="12" name="TextBox 11"/>
          <p:cNvSpPr txBox="1"/>
          <p:nvPr/>
        </p:nvSpPr>
        <p:spPr>
          <a:xfrm>
            <a:off x="640080" y="2322576"/>
            <a:ext cx="2286000" cy="274320"/>
          </a:xfrm>
          <a:prstGeom prst="rect">
            <a:avLst/>
          </a:prstGeom>
          <a:noFill/>
        </p:spPr>
        <p:txBody>
          <a:bodyPr wrap="square">
            <a:spAutoFit/>
          </a:bodyPr>
          <a:lstStyle/>
          <a:p>
            <a:pPr algn="l"/>
            <a:r>
              <a:rPr sz="850" b="0" i="0">
                <a:solidFill>
                  <a:srgbClr val="1A1A2E"/>
                </a:solidFill>
                <a:latin typeface="Calibri"/>
              </a:rPr>
              <a:t>Revenue: ₦744M</a:t>
            </a:r>
          </a:p>
        </p:txBody>
      </p:sp>
      <p:sp>
        <p:nvSpPr>
          <p:cNvPr id="13" name="TextBox 12"/>
          <p:cNvSpPr txBox="1"/>
          <p:nvPr/>
        </p:nvSpPr>
        <p:spPr>
          <a:xfrm>
            <a:off x="2926080" y="2322576"/>
            <a:ext cx="2286000" cy="274320"/>
          </a:xfrm>
          <a:prstGeom prst="rect">
            <a:avLst/>
          </a:prstGeom>
          <a:noFill/>
        </p:spPr>
        <p:txBody>
          <a:bodyPr wrap="square">
            <a:spAutoFit/>
          </a:bodyPr>
          <a:lstStyle/>
          <a:p>
            <a:pPr algn="l"/>
            <a:r>
              <a:rPr sz="850" b="0" i="0">
                <a:solidFill>
                  <a:srgbClr val="1A1A2E"/>
                </a:solidFill>
                <a:latin typeface="Calibri"/>
              </a:rPr>
              <a:t>Profit: ₦284M</a:t>
            </a:r>
          </a:p>
        </p:txBody>
      </p:sp>
      <p:sp>
        <p:nvSpPr>
          <p:cNvPr id="14" name="Rectangle 13"/>
          <p:cNvSpPr/>
          <p:nvPr/>
        </p:nvSpPr>
        <p:spPr>
          <a:xfrm>
            <a:off x="457200" y="3127248"/>
            <a:ext cx="5303520" cy="13898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127248"/>
            <a:ext cx="73152" cy="1389888"/>
          </a:xfrm>
          <a:prstGeom prst="rect">
            <a:avLst/>
          </a:prstGeom>
          <a:solidFill>
            <a:srgbClr val="06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236976"/>
            <a:ext cx="2743200" cy="320040"/>
          </a:xfrm>
          <a:prstGeom prst="rect">
            <a:avLst/>
          </a:prstGeom>
          <a:noFill/>
        </p:spPr>
        <p:txBody>
          <a:bodyPr wrap="square">
            <a:spAutoFit/>
          </a:bodyPr>
          <a:lstStyle/>
          <a:p>
            <a:pPr algn="l"/>
            <a:r>
              <a:rPr sz="1200" b="1" i="0">
                <a:solidFill>
                  <a:srgbClr val="1E2761"/>
                </a:solidFill>
                <a:latin typeface="Calibri"/>
              </a:rPr>
              <a:t>Online</a:t>
            </a:r>
          </a:p>
        </p:txBody>
      </p:sp>
      <p:sp>
        <p:nvSpPr>
          <p:cNvPr id="17" name="TextBox 16"/>
          <p:cNvSpPr txBox="1"/>
          <p:nvPr/>
        </p:nvSpPr>
        <p:spPr>
          <a:xfrm>
            <a:off x="640080" y="3566160"/>
            <a:ext cx="2743200" cy="274320"/>
          </a:xfrm>
          <a:prstGeom prst="rect">
            <a:avLst/>
          </a:prstGeom>
          <a:noFill/>
        </p:spPr>
        <p:txBody>
          <a:bodyPr wrap="square">
            <a:spAutoFit/>
          </a:bodyPr>
          <a:lstStyle/>
          <a:p>
            <a:pPr algn="l"/>
            <a:r>
              <a:rPr sz="900" b="0" i="0">
                <a:solidFill>
                  <a:srgbClr val="64748B"/>
                </a:solidFill>
                <a:latin typeface="Calibri"/>
              </a:rPr>
              <a:t>33.88% of total sales</a:t>
            </a:r>
          </a:p>
        </p:txBody>
      </p:sp>
      <p:sp>
        <p:nvSpPr>
          <p:cNvPr id="18" name="TextBox 17"/>
          <p:cNvSpPr txBox="1"/>
          <p:nvPr/>
        </p:nvSpPr>
        <p:spPr>
          <a:xfrm>
            <a:off x="640080" y="3877056"/>
            <a:ext cx="2286000" cy="274320"/>
          </a:xfrm>
          <a:prstGeom prst="rect">
            <a:avLst/>
          </a:prstGeom>
          <a:noFill/>
        </p:spPr>
        <p:txBody>
          <a:bodyPr wrap="square">
            <a:spAutoFit/>
          </a:bodyPr>
          <a:lstStyle/>
          <a:p>
            <a:pPr algn="l"/>
            <a:r>
              <a:rPr sz="850" b="0" i="0">
                <a:solidFill>
                  <a:srgbClr val="1A1A2E"/>
                </a:solidFill>
                <a:latin typeface="Calibri"/>
              </a:rPr>
              <a:t>Revenue: ₦724M</a:t>
            </a:r>
          </a:p>
        </p:txBody>
      </p:sp>
      <p:sp>
        <p:nvSpPr>
          <p:cNvPr id="19" name="TextBox 18"/>
          <p:cNvSpPr txBox="1"/>
          <p:nvPr/>
        </p:nvSpPr>
        <p:spPr>
          <a:xfrm>
            <a:off x="2926080" y="3877056"/>
            <a:ext cx="2286000" cy="274320"/>
          </a:xfrm>
          <a:prstGeom prst="rect">
            <a:avLst/>
          </a:prstGeom>
          <a:noFill/>
        </p:spPr>
        <p:txBody>
          <a:bodyPr wrap="square">
            <a:spAutoFit/>
          </a:bodyPr>
          <a:lstStyle/>
          <a:p>
            <a:pPr algn="l"/>
            <a:r>
              <a:rPr sz="850" b="0" i="0">
                <a:solidFill>
                  <a:srgbClr val="1A1A2E"/>
                </a:solidFill>
                <a:latin typeface="Calibri"/>
              </a:rPr>
              <a:t>Profit: ₦309M</a:t>
            </a:r>
          </a:p>
        </p:txBody>
      </p:sp>
      <p:sp>
        <p:nvSpPr>
          <p:cNvPr id="20" name="Rectangle 19"/>
          <p:cNvSpPr/>
          <p:nvPr/>
        </p:nvSpPr>
        <p:spPr>
          <a:xfrm>
            <a:off x="457200" y="4681728"/>
            <a:ext cx="5303520" cy="13898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681728"/>
            <a:ext cx="73152" cy="138988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791456"/>
            <a:ext cx="2743200" cy="320040"/>
          </a:xfrm>
          <a:prstGeom prst="rect">
            <a:avLst/>
          </a:prstGeom>
          <a:noFill/>
        </p:spPr>
        <p:txBody>
          <a:bodyPr wrap="square">
            <a:spAutoFit/>
          </a:bodyPr>
          <a:lstStyle/>
          <a:p>
            <a:pPr algn="l"/>
            <a:r>
              <a:rPr sz="1200" b="1" i="0">
                <a:solidFill>
                  <a:srgbClr val="1E2761"/>
                </a:solidFill>
                <a:latin typeface="Calibri"/>
              </a:rPr>
              <a:t>Mobile App</a:t>
            </a:r>
          </a:p>
        </p:txBody>
      </p:sp>
      <p:sp>
        <p:nvSpPr>
          <p:cNvPr id="23" name="TextBox 22"/>
          <p:cNvSpPr txBox="1"/>
          <p:nvPr/>
        </p:nvSpPr>
        <p:spPr>
          <a:xfrm>
            <a:off x="640080" y="5120640"/>
            <a:ext cx="2743200" cy="274320"/>
          </a:xfrm>
          <a:prstGeom prst="rect">
            <a:avLst/>
          </a:prstGeom>
          <a:noFill/>
        </p:spPr>
        <p:txBody>
          <a:bodyPr wrap="square">
            <a:spAutoFit/>
          </a:bodyPr>
          <a:lstStyle/>
          <a:p>
            <a:pPr algn="l"/>
            <a:r>
              <a:rPr sz="900" b="0" i="0">
                <a:solidFill>
                  <a:srgbClr val="64748B"/>
                </a:solidFill>
                <a:latin typeface="Calibri"/>
              </a:rPr>
              <a:t>31.34% of total sales</a:t>
            </a:r>
          </a:p>
        </p:txBody>
      </p:sp>
      <p:sp>
        <p:nvSpPr>
          <p:cNvPr id="24" name="TextBox 23"/>
          <p:cNvSpPr txBox="1"/>
          <p:nvPr/>
        </p:nvSpPr>
        <p:spPr>
          <a:xfrm>
            <a:off x="640080" y="5431536"/>
            <a:ext cx="2286000" cy="274320"/>
          </a:xfrm>
          <a:prstGeom prst="rect">
            <a:avLst/>
          </a:prstGeom>
          <a:noFill/>
        </p:spPr>
        <p:txBody>
          <a:bodyPr wrap="square">
            <a:spAutoFit/>
          </a:bodyPr>
          <a:lstStyle/>
          <a:p>
            <a:pPr algn="l"/>
            <a:r>
              <a:rPr sz="850" b="0" i="0">
                <a:solidFill>
                  <a:srgbClr val="1A1A2E"/>
                </a:solidFill>
                <a:latin typeface="Calibri"/>
              </a:rPr>
              <a:t>Revenue: ₦670M</a:t>
            </a:r>
          </a:p>
        </p:txBody>
      </p:sp>
      <p:sp>
        <p:nvSpPr>
          <p:cNvPr id="25" name="TextBox 24"/>
          <p:cNvSpPr txBox="1"/>
          <p:nvPr/>
        </p:nvSpPr>
        <p:spPr>
          <a:xfrm>
            <a:off x="2926080" y="5431536"/>
            <a:ext cx="2286000" cy="274320"/>
          </a:xfrm>
          <a:prstGeom prst="rect">
            <a:avLst/>
          </a:prstGeom>
          <a:noFill/>
        </p:spPr>
        <p:txBody>
          <a:bodyPr wrap="square">
            <a:spAutoFit/>
          </a:bodyPr>
          <a:lstStyle/>
          <a:p>
            <a:pPr algn="l"/>
            <a:r>
              <a:rPr sz="850" b="0" i="0">
                <a:solidFill>
                  <a:srgbClr val="1A1A2E"/>
                </a:solidFill>
                <a:latin typeface="Calibri"/>
              </a:rPr>
              <a:t>Profit: ₦318M</a:t>
            </a:r>
          </a:p>
        </p:txBody>
      </p:sp>
      <p:sp>
        <p:nvSpPr>
          <p:cNvPr id="26" name="TextBox 25"/>
          <p:cNvSpPr txBox="1"/>
          <p:nvPr/>
        </p:nvSpPr>
        <p:spPr>
          <a:xfrm>
            <a:off x="548640" y="6126480"/>
            <a:ext cx="5212080" cy="228600"/>
          </a:xfrm>
          <a:prstGeom prst="rect">
            <a:avLst/>
          </a:prstGeom>
          <a:noFill/>
        </p:spPr>
        <p:txBody>
          <a:bodyPr wrap="square">
            <a:spAutoFit/>
          </a:bodyPr>
          <a:lstStyle/>
          <a:p>
            <a:pPr algn="l"/>
            <a:r>
              <a:rPr sz="850" b="0" i="1">
                <a:solidFill>
                  <a:srgbClr val="06786B"/>
                </a:solidFill>
                <a:latin typeface="Calibri"/>
              </a:rPr>
              <a:t>⚖️  All three channels perform within 3.5% of each other — remarkably balanced.</a:t>
            </a:r>
          </a:p>
        </p:txBody>
      </p:sp>
      <p:sp>
        <p:nvSpPr>
          <p:cNvPr id="27" name="Rectangle 26"/>
          <p:cNvSpPr/>
          <p:nvPr/>
        </p:nvSpPr>
        <p:spPr>
          <a:xfrm>
            <a:off x="6309360" y="960120"/>
            <a:ext cx="5486400" cy="5440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60" y="960120"/>
            <a:ext cx="64008" cy="54406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1024128"/>
            <a:ext cx="5212080" cy="365760"/>
          </a:xfrm>
          <a:prstGeom prst="rect">
            <a:avLst/>
          </a:prstGeom>
          <a:noFill/>
        </p:spPr>
        <p:txBody>
          <a:bodyPr wrap="square">
            <a:spAutoFit/>
          </a:bodyPr>
          <a:lstStyle/>
          <a:p>
            <a:pPr algn="l"/>
            <a:r>
              <a:rPr sz="1100" b="1" i="0">
                <a:solidFill>
                  <a:srgbClr val="1E2761"/>
                </a:solidFill>
                <a:latin typeface="Calibri"/>
              </a:rPr>
              <a:t>💳  Payment Method Insights</a:t>
            </a:r>
          </a:p>
        </p:txBody>
      </p:sp>
      <p:sp>
        <p:nvSpPr>
          <p:cNvPr id="30" name="TextBox 29"/>
          <p:cNvSpPr txBox="1"/>
          <p:nvPr/>
        </p:nvSpPr>
        <p:spPr>
          <a:xfrm>
            <a:off x="6492240" y="1536192"/>
            <a:ext cx="5212080" cy="274320"/>
          </a:xfrm>
          <a:prstGeom prst="rect">
            <a:avLst/>
          </a:prstGeom>
          <a:noFill/>
        </p:spPr>
        <p:txBody>
          <a:bodyPr wrap="square">
            <a:spAutoFit/>
          </a:bodyPr>
          <a:lstStyle/>
          <a:p>
            <a:pPr algn="l"/>
            <a:r>
              <a:rPr sz="950" b="1" i="0">
                <a:solidFill>
                  <a:srgbClr val="3B0F6B"/>
                </a:solidFill>
                <a:latin typeface="Calibri"/>
              </a:rPr>
              <a:t>Card dominates in West and Central</a:t>
            </a:r>
          </a:p>
        </p:txBody>
      </p:sp>
      <p:sp>
        <p:nvSpPr>
          <p:cNvPr id="31" name="TextBox 30"/>
          <p:cNvSpPr txBox="1"/>
          <p:nvPr/>
        </p:nvSpPr>
        <p:spPr>
          <a:xfrm>
            <a:off x="6492240" y="1810512"/>
            <a:ext cx="5212080" cy="548640"/>
          </a:xfrm>
          <a:prstGeom prst="rect">
            <a:avLst/>
          </a:prstGeom>
          <a:noFill/>
        </p:spPr>
        <p:txBody>
          <a:bodyPr wrap="square">
            <a:spAutoFit/>
          </a:bodyPr>
          <a:lstStyle/>
          <a:p>
            <a:pPr algn="l"/>
            <a:r>
              <a:rPr sz="850" b="0" i="0">
                <a:solidFill>
                  <a:srgbClr val="1A1A2E"/>
                </a:solidFill>
                <a:latin typeface="Calibri"/>
              </a:rPr>
              <a:t>Card payments are the preferred method in the highest-performing regions — suggesting a more urban, banked customer base.</a:t>
            </a:r>
          </a:p>
        </p:txBody>
      </p:sp>
      <p:sp>
        <p:nvSpPr>
          <p:cNvPr id="32" name="TextBox 31"/>
          <p:cNvSpPr txBox="1"/>
          <p:nvPr/>
        </p:nvSpPr>
        <p:spPr>
          <a:xfrm>
            <a:off x="6492240" y="2450591"/>
            <a:ext cx="5212080" cy="274320"/>
          </a:xfrm>
          <a:prstGeom prst="rect">
            <a:avLst/>
          </a:prstGeom>
          <a:noFill/>
        </p:spPr>
        <p:txBody>
          <a:bodyPr wrap="square">
            <a:spAutoFit/>
          </a:bodyPr>
          <a:lstStyle/>
          <a:p>
            <a:pPr algn="l"/>
            <a:r>
              <a:rPr sz="950" b="1" i="0">
                <a:solidFill>
                  <a:srgbClr val="3B0F6B"/>
                </a:solidFill>
                <a:latin typeface="Calibri"/>
              </a:rPr>
              <a:t>Cash is still significant in North and East</a:t>
            </a:r>
          </a:p>
        </p:txBody>
      </p:sp>
      <p:sp>
        <p:nvSpPr>
          <p:cNvPr id="33" name="TextBox 32"/>
          <p:cNvSpPr txBox="1"/>
          <p:nvPr/>
        </p:nvSpPr>
        <p:spPr>
          <a:xfrm>
            <a:off x="6492240" y="2724911"/>
            <a:ext cx="5212080" cy="548640"/>
          </a:xfrm>
          <a:prstGeom prst="rect">
            <a:avLst/>
          </a:prstGeom>
          <a:noFill/>
        </p:spPr>
        <p:txBody>
          <a:bodyPr wrap="square">
            <a:spAutoFit/>
          </a:bodyPr>
          <a:lstStyle/>
          <a:p>
            <a:pPr algn="l"/>
            <a:r>
              <a:rPr sz="850" b="0" i="0">
                <a:solidFill>
                  <a:srgbClr val="1A1A2E"/>
                </a:solidFill>
                <a:latin typeface="Calibri"/>
              </a:rPr>
              <a:t>Cash remains common in Northern and Eastern cities — reflecting infrastructure gaps in POS and digital payment adoption.</a:t>
            </a:r>
          </a:p>
        </p:txBody>
      </p:sp>
      <p:sp>
        <p:nvSpPr>
          <p:cNvPr id="34" name="TextBox 33"/>
          <p:cNvSpPr txBox="1"/>
          <p:nvPr/>
        </p:nvSpPr>
        <p:spPr>
          <a:xfrm>
            <a:off x="6492240" y="3364991"/>
            <a:ext cx="5212080" cy="274320"/>
          </a:xfrm>
          <a:prstGeom prst="rect">
            <a:avLst/>
          </a:prstGeom>
          <a:noFill/>
        </p:spPr>
        <p:txBody>
          <a:bodyPr wrap="square">
            <a:spAutoFit/>
          </a:bodyPr>
          <a:lstStyle/>
          <a:p>
            <a:pPr algn="l"/>
            <a:r>
              <a:rPr sz="950" b="1" i="0">
                <a:solidFill>
                  <a:srgbClr val="3B0F6B"/>
                </a:solidFill>
                <a:latin typeface="Calibri"/>
              </a:rPr>
              <a:t>POS usage is growing</a:t>
            </a:r>
          </a:p>
        </p:txBody>
      </p:sp>
      <p:sp>
        <p:nvSpPr>
          <p:cNvPr id="35" name="TextBox 34"/>
          <p:cNvSpPr txBox="1"/>
          <p:nvPr/>
        </p:nvSpPr>
        <p:spPr>
          <a:xfrm>
            <a:off x="6492240" y="3639311"/>
            <a:ext cx="5212080" cy="548640"/>
          </a:xfrm>
          <a:prstGeom prst="rect">
            <a:avLst/>
          </a:prstGeom>
          <a:noFill/>
        </p:spPr>
        <p:txBody>
          <a:bodyPr wrap="square">
            <a:spAutoFit/>
          </a:bodyPr>
          <a:lstStyle/>
          <a:p>
            <a:pPr algn="l"/>
            <a:r>
              <a:rPr sz="850" b="0" i="0">
                <a:solidFill>
                  <a:srgbClr val="1A1A2E"/>
                </a:solidFill>
                <a:latin typeface="Calibri"/>
              </a:rPr>
              <a:t>POS transactions appear across all regions fairly evenly — the infrastructure investment is paying off nationwide.</a:t>
            </a:r>
          </a:p>
        </p:txBody>
      </p:sp>
      <p:sp>
        <p:nvSpPr>
          <p:cNvPr id="36" name="TextBox 35"/>
          <p:cNvSpPr txBox="1"/>
          <p:nvPr/>
        </p:nvSpPr>
        <p:spPr>
          <a:xfrm>
            <a:off x="6492240" y="4279392"/>
            <a:ext cx="5212080" cy="274320"/>
          </a:xfrm>
          <a:prstGeom prst="rect">
            <a:avLst/>
          </a:prstGeom>
          <a:noFill/>
        </p:spPr>
        <p:txBody>
          <a:bodyPr wrap="square">
            <a:spAutoFit/>
          </a:bodyPr>
          <a:lstStyle/>
          <a:p>
            <a:pPr algn="l"/>
            <a:r>
              <a:rPr sz="950" b="1" i="0">
                <a:solidFill>
                  <a:srgbClr val="3B0F6B"/>
                </a:solidFill>
                <a:latin typeface="Calibri"/>
              </a:rPr>
              <a:t>Transfer is the least used overall</a:t>
            </a:r>
          </a:p>
        </p:txBody>
      </p:sp>
      <p:sp>
        <p:nvSpPr>
          <p:cNvPr id="37" name="TextBox 36"/>
          <p:cNvSpPr txBox="1"/>
          <p:nvPr/>
        </p:nvSpPr>
        <p:spPr>
          <a:xfrm>
            <a:off x="6492240" y="4553712"/>
            <a:ext cx="5212080" cy="548640"/>
          </a:xfrm>
          <a:prstGeom prst="rect">
            <a:avLst/>
          </a:prstGeom>
          <a:noFill/>
        </p:spPr>
        <p:txBody>
          <a:bodyPr wrap="square">
            <a:spAutoFit/>
          </a:bodyPr>
          <a:lstStyle/>
          <a:p>
            <a:pPr algn="l"/>
            <a:r>
              <a:rPr sz="850" b="0" i="0">
                <a:solidFill>
                  <a:srgbClr val="1A1A2E"/>
                </a:solidFill>
                <a:latin typeface="Calibri"/>
              </a:rPr>
              <a:t>Bank transfer lags across all regions — likely due to slower processing times compared to POS and card.</a:t>
            </a:r>
          </a:p>
        </p:txBody>
      </p:sp>
      <p:sp>
        <p:nvSpPr>
          <p:cNvPr id="38" name="TextBox 37"/>
          <p:cNvSpPr txBox="1"/>
          <p:nvPr/>
        </p:nvSpPr>
        <p:spPr>
          <a:xfrm>
            <a:off x="6492240" y="5193792"/>
            <a:ext cx="5212080" cy="274320"/>
          </a:xfrm>
          <a:prstGeom prst="rect">
            <a:avLst/>
          </a:prstGeom>
          <a:noFill/>
        </p:spPr>
        <p:txBody>
          <a:bodyPr wrap="square">
            <a:spAutoFit/>
          </a:bodyPr>
          <a:lstStyle/>
          <a:p>
            <a:pPr algn="l"/>
            <a:r>
              <a:rPr sz="950" b="1" i="0">
                <a:solidFill>
                  <a:srgbClr val="3B0F6B"/>
                </a:solidFill>
                <a:latin typeface="Calibri"/>
              </a:rPr>
              <a:t>Recommendation</a:t>
            </a:r>
          </a:p>
        </p:txBody>
      </p:sp>
      <p:sp>
        <p:nvSpPr>
          <p:cNvPr id="39" name="TextBox 38"/>
          <p:cNvSpPr txBox="1"/>
          <p:nvPr/>
        </p:nvSpPr>
        <p:spPr>
          <a:xfrm>
            <a:off x="6492240" y="5468112"/>
            <a:ext cx="5212080" cy="548640"/>
          </a:xfrm>
          <a:prstGeom prst="rect">
            <a:avLst/>
          </a:prstGeom>
          <a:noFill/>
        </p:spPr>
        <p:txBody>
          <a:bodyPr wrap="square">
            <a:spAutoFit/>
          </a:bodyPr>
          <a:lstStyle/>
          <a:p>
            <a:pPr algn="l"/>
            <a:r>
              <a:rPr sz="850" b="0" i="0">
                <a:solidFill>
                  <a:srgbClr val="1A1A2E"/>
                </a:solidFill>
                <a:latin typeface="Calibri"/>
              </a:rPr>
              <a:t>Invest in POS infrastructure in North and East to shift cash users to digital — this reduces cash-handling costs.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502920"/>
          </a:xfrm>
          <a:prstGeom prst="rect">
            <a:avLst/>
          </a:prstGeom>
          <a:noFill/>
        </p:spPr>
        <p:txBody>
          <a:bodyPr wrap="square">
            <a:spAutoFit/>
          </a:bodyPr>
          <a:lstStyle/>
          <a:p>
            <a:pPr algn="l"/>
            <a:r>
              <a:rPr sz="2200" b="1" i="0">
                <a:solidFill>
                  <a:srgbClr val="FFFFFF"/>
                </a:solidFill>
                <a:latin typeface="Calibri"/>
              </a:rPr>
              <a:t>TIME TRENDS &amp; SEASONALITY</a:t>
            </a:r>
          </a:p>
        </p:txBody>
      </p:sp>
      <p:sp>
        <p:nvSpPr>
          <p:cNvPr id="4" name="TextBox 3"/>
          <p:cNvSpPr txBox="1"/>
          <p:nvPr/>
        </p:nvSpPr>
        <p:spPr>
          <a:xfrm>
            <a:off x="8686800" y="228600"/>
            <a:ext cx="3200400" cy="365760"/>
          </a:xfrm>
          <a:prstGeom prst="rect">
            <a:avLst/>
          </a:prstGeom>
          <a:noFill/>
        </p:spPr>
        <p:txBody>
          <a:bodyPr wrap="square">
            <a:spAutoFit/>
          </a:bodyPr>
          <a:lstStyle/>
          <a:p>
            <a:pPr algn="r"/>
            <a:r>
              <a:rPr sz="1000" b="0" i="0">
                <a:solidFill>
                  <a:srgbClr val="CADCFC"/>
                </a:solidFill>
                <a:latin typeface="Calibri"/>
              </a:rPr>
              <a:t>Page 5 of Dashboard</a:t>
            </a:r>
          </a:p>
        </p:txBody>
      </p:sp>
      <p:sp>
        <p:nvSpPr>
          <p:cNvPr id="5" name="Rectangle 4"/>
          <p:cNvSpPr/>
          <p:nvPr/>
        </p:nvSpPr>
        <p:spPr>
          <a:xfrm>
            <a:off x="365760" y="960120"/>
            <a:ext cx="1143000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73152" cy="96012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005840"/>
            <a:ext cx="4572000" cy="320040"/>
          </a:xfrm>
          <a:prstGeom prst="rect">
            <a:avLst/>
          </a:prstGeom>
          <a:noFill/>
        </p:spPr>
        <p:txBody>
          <a:bodyPr wrap="square">
            <a:spAutoFit/>
          </a:bodyPr>
          <a:lstStyle/>
          <a:p>
            <a:pPr algn="l"/>
            <a:r>
              <a:rPr sz="1000" b="1" i="0">
                <a:solidFill>
                  <a:srgbClr val="1E2761"/>
                </a:solidFill>
                <a:latin typeface="Calibri"/>
              </a:rPr>
              <a:t>Year-over-Year Comparison</a:t>
            </a:r>
          </a:p>
        </p:txBody>
      </p:sp>
      <p:sp>
        <p:nvSpPr>
          <p:cNvPr id="8" name="Rectangle 7"/>
          <p:cNvSpPr/>
          <p:nvPr/>
        </p:nvSpPr>
        <p:spPr>
          <a:xfrm>
            <a:off x="384048" y="1298448"/>
            <a:ext cx="11393424" cy="34747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353312"/>
            <a:ext cx="2743200" cy="256032"/>
          </a:xfrm>
          <a:prstGeom prst="rect">
            <a:avLst/>
          </a:prstGeom>
          <a:noFill/>
        </p:spPr>
        <p:txBody>
          <a:bodyPr wrap="square">
            <a:spAutoFit/>
          </a:bodyPr>
          <a:lstStyle/>
          <a:p>
            <a:pPr algn="l"/>
            <a:r>
              <a:rPr sz="850" b="1" i="0">
                <a:solidFill>
                  <a:srgbClr val="FFFFFF"/>
                </a:solidFill>
                <a:latin typeface="Calibri"/>
              </a:rPr>
              <a:t>Metric</a:t>
            </a:r>
          </a:p>
        </p:txBody>
      </p:sp>
      <p:sp>
        <p:nvSpPr>
          <p:cNvPr id="10" name="TextBox 9"/>
          <p:cNvSpPr txBox="1"/>
          <p:nvPr/>
        </p:nvSpPr>
        <p:spPr>
          <a:xfrm>
            <a:off x="3474720" y="1353312"/>
            <a:ext cx="2286000" cy="256032"/>
          </a:xfrm>
          <a:prstGeom prst="rect">
            <a:avLst/>
          </a:prstGeom>
          <a:noFill/>
        </p:spPr>
        <p:txBody>
          <a:bodyPr wrap="square">
            <a:spAutoFit/>
          </a:bodyPr>
          <a:lstStyle/>
          <a:p>
            <a:pPr algn="l"/>
            <a:r>
              <a:rPr sz="850" b="1" i="0">
                <a:solidFill>
                  <a:srgbClr val="FFFFFF"/>
                </a:solidFill>
                <a:latin typeface="Calibri"/>
              </a:rPr>
              <a:t>2023</a:t>
            </a:r>
          </a:p>
        </p:txBody>
      </p:sp>
      <p:sp>
        <p:nvSpPr>
          <p:cNvPr id="11" name="TextBox 10"/>
          <p:cNvSpPr txBox="1"/>
          <p:nvPr/>
        </p:nvSpPr>
        <p:spPr>
          <a:xfrm>
            <a:off x="5943600" y="1353312"/>
            <a:ext cx="2286000" cy="256032"/>
          </a:xfrm>
          <a:prstGeom prst="rect">
            <a:avLst/>
          </a:prstGeom>
          <a:noFill/>
        </p:spPr>
        <p:txBody>
          <a:bodyPr wrap="square">
            <a:spAutoFit/>
          </a:bodyPr>
          <a:lstStyle/>
          <a:p>
            <a:pPr algn="l"/>
            <a:r>
              <a:rPr sz="850" b="1" i="0">
                <a:solidFill>
                  <a:srgbClr val="FFFFFF"/>
                </a:solidFill>
                <a:latin typeface="Calibri"/>
              </a:rPr>
              <a:t>2024</a:t>
            </a:r>
          </a:p>
        </p:txBody>
      </p:sp>
      <p:sp>
        <p:nvSpPr>
          <p:cNvPr id="12" name="TextBox 11"/>
          <p:cNvSpPr txBox="1"/>
          <p:nvPr/>
        </p:nvSpPr>
        <p:spPr>
          <a:xfrm>
            <a:off x="8412480" y="1353312"/>
            <a:ext cx="3474720" cy="256032"/>
          </a:xfrm>
          <a:prstGeom prst="rect">
            <a:avLst/>
          </a:prstGeom>
          <a:noFill/>
        </p:spPr>
        <p:txBody>
          <a:bodyPr wrap="square">
            <a:spAutoFit/>
          </a:bodyPr>
          <a:lstStyle/>
          <a:p>
            <a:pPr algn="l"/>
            <a:r>
              <a:rPr sz="850" b="1" i="0">
                <a:solidFill>
                  <a:srgbClr val="FFFFFF"/>
                </a:solidFill>
                <a:latin typeface="Calibri"/>
              </a:rPr>
              <a:t>Change</a:t>
            </a:r>
          </a:p>
        </p:txBody>
      </p:sp>
      <p:sp>
        <p:nvSpPr>
          <p:cNvPr id="13" name="Rectangle 12"/>
          <p:cNvSpPr/>
          <p:nvPr/>
        </p:nvSpPr>
        <p:spPr>
          <a:xfrm>
            <a:off x="384048" y="1673352"/>
            <a:ext cx="11393424" cy="2011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691640"/>
            <a:ext cx="2743200" cy="182880"/>
          </a:xfrm>
          <a:prstGeom prst="rect">
            <a:avLst/>
          </a:prstGeom>
          <a:noFill/>
        </p:spPr>
        <p:txBody>
          <a:bodyPr wrap="square">
            <a:spAutoFit/>
          </a:bodyPr>
          <a:lstStyle/>
          <a:p>
            <a:pPr algn="l"/>
            <a:r>
              <a:rPr sz="800" b="0" i="0">
                <a:solidFill>
                  <a:srgbClr val="1A1A2E"/>
                </a:solidFill>
                <a:latin typeface="Calibri"/>
              </a:rPr>
              <a:t>Total Revenue</a:t>
            </a:r>
          </a:p>
        </p:txBody>
      </p:sp>
      <p:sp>
        <p:nvSpPr>
          <p:cNvPr id="15" name="TextBox 14"/>
          <p:cNvSpPr txBox="1"/>
          <p:nvPr/>
        </p:nvSpPr>
        <p:spPr>
          <a:xfrm>
            <a:off x="3474720" y="1691640"/>
            <a:ext cx="2286000" cy="182880"/>
          </a:xfrm>
          <a:prstGeom prst="rect">
            <a:avLst/>
          </a:prstGeom>
          <a:noFill/>
        </p:spPr>
        <p:txBody>
          <a:bodyPr wrap="square">
            <a:spAutoFit/>
          </a:bodyPr>
          <a:lstStyle/>
          <a:p>
            <a:pPr algn="l"/>
            <a:r>
              <a:rPr sz="800" b="0" i="0">
                <a:solidFill>
                  <a:srgbClr val="1A1A2E"/>
                </a:solidFill>
                <a:latin typeface="Calibri"/>
              </a:rPr>
              <a:t>~₦1.0bn</a:t>
            </a:r>
          </a:p>
        </p:txBody>
      </p:sp>
      <p:sp>
        <p:nvSpPr>
          <p:cNvPr id="16" name="TextBox 15"/>
          <p:cNvSpPr txBox="1"/>
          <p:nvPr/>
        </p:nvSpPr>
        <p:spPr>
          <a:xfrm>
            <a:off x="5943600" y="1691640"/>
            <a:ext cx="2286000" cy="182880"/>
          </a:xfrm>
          <a:prstGeom prst="rect">
            <a:avLst/>
          </a:prstGeom>
          <a:noFill/>
        </p:spPr>
        <p:txBody>
          <a:bodyPr wrap="square">
            <a:spAutoFit/>
          </a:bodyPr>
          <a:lstStyle/>
          <a:p>
            <a:pPr algn="l"/>
            <a:r>
              <a:rPr sz="800" b="0" i="0">
                <a:solidFill>
                  <a:srgbClr val="1A1A2E"/>
                </a:solidFill>
                <a:latin typeface="Calibri"/>
              </a:rPr>
              <a:t>~₦1.14bn</a:t>
            </a:r>
          </a:p>
        </p:txBody>
      </p:sp>
      <p:sp>
        <p:nvSpPr>
          <p:cNvPr id="17" name="TextBox 16"/>
          <p:cNvSpPr txBox="1"/>
          <p:nvPr/>
        </p:nvSpPr>
        <p:spPr>
          <a:xfrm>
            <a:off x="8412480" y="1691640"/>
            <a:ext cx="3474720" cy="182880"/>
          </a:xfrm>
          <a:prstGeom prst="rect">
            <a:avLst/>
          </a:prstGeom>
          <a:noFill/>
        </p:spPr>
        <p:txBody>
          <a:bodyPr wrap="square">
            <a:spAutoFit/>
          </a:bodyPr>
          <a:lstStyle/>
          <a:p>
            <a:pPr algn="l"/>
            <a:r>
              <a:rPr sz="800" b="0" i="0">
                <a:solidFill>
                  <a:srgbClr val="10B981"/>
                </a:solidFill>
                <a:latin typeface="Calibri"/>
              </a:rPr>
              <a:t>▲ Growing</a:t>
            </a:r>
          </a:p>
        </p:txBody>
      </p:sp>
      <p:sp>
        <p:nvSpPr>
          <p:cNvPr id="18" name="Rectangle 17"/>
          <p:cNvSpPr/>
          <p:nvPr/>
        </p:nvSpPr>
        <p:spPr>
          <a:xfrm>
            <a:off x="384048" y="1874520"/>
            <a:ext cx="11393424" cy="201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1892808"/>
            <a:ext cx="2743200" cy="182880"/>
          </a:xfrm>
          <a:prstGeom prst="rect">
            <a:avLst/>
          </a:prstGeom>
          <a:noFill/>
        </p:spPr>
        <p:txBody>
          <a:bodyPr wrap="square">
            <a:spAutoFit/>
          </a:bodyPr>
          <a:lstStyle/>
          <a:p>
            <a:pPr algn="l"/>
            <a:r>
              <a:rPr sz="800" b="0" i="0">
                <a:solidFill>
                  <a:srgbClr val="1A1A2E"/>
                </a:solidFill>
                <a:latin typeface="Calibri"/>
              </a:rPr>
              <a:t>Total Profit</a:t>
            </a:r>
          </a:p>
        </p:txBody>
      </p:sp>
      <p:sp>
        <p:nvSpPr>
          <p:cNvPr id="20" name="TextBox 19"/>
          <p:cNvSpPr txBox="1"/>
          <p:nvPr/>
        </p:nvSpPr>
        <p:spPr>
          <a:xfrm>
            <a:off x="3474720" y="1892808"/>
            <a:ext cx="2286000" cy="182880"/>
          </a:xfrm>
          <a:prstGeom prst="rect">
            <a:avLst/>
          </a:prstGeom>
          <a:noFill/>
        </p:spPr>
        <p:txBody>
          <a:bodyPr wrap="square">
            <a:spAutoFit/>
          </a:bodyPr>
          <a:lstStyle/>
          <a:p>
            <a:pPr algn="l"/>
            <a:r>
              <a:rPr sz="800" b="0" i="0">
                <a:solidFill>
                  <a:srgbClr val="1A1A2E"/>
                </a:solidFill>
                <a:latin typeface="Calibri"/>
              </a:rPr>
              <a:t>~₦430M</a:t>
            </a:r>
          </a:p>
        </p:txBody>
      </p:sp>
      <p:sp>
        <p:nvSpPr>
          <p:cNvPr id="21" name="TextBox 20"/>
          <p:cNvSpPr txBox="1"/>
          <p:nvPr/>
        </p:nvSpPr>
        <p:spPr>
          <a:xfrm>
            <a:off x="5943600" y="1892808"/>
            <a:ext cx="2286000" cy="182880"/>
          </a:xfrm>
          <a:prstGeom prst="rect">
            <a:avLst/>
          </a:prstGeom>
          <a:noFill/>
        </p:spPr>
        <p:txBody>
          <a:bodyPr wrap="square">
            <a:spAutoFit/>
          </a:bodyPr>
          <a:lstStyle/>
          <a:p>
            <a:pPr algn="l"/>
            <a:r>
              <a:rPr sz="800" b="0" i="0">
                <a:solidFill>
                  <a:srgbClr val="1A1A2E"/>
                </a:solidFill>
                <a:latin typeface="Calibri"/>
              </a:rPr>
              <a:t>~₦480M</a:t>
            </a:r>
          </a:p>
        </p:txBody>
      </p:sp>
      <p:sp>
        <p:nvSpPr>
          <p:cNvPr id="22" name="TextBox 21"/>
          <p:cNvSpPr txBox="1"/>
          <p:nvPr/>
        </p:nvSpPr>
        <p:spPr>
          <a:xfrm>
            <a:off x="8412480" y="1892808"/>
            <a:ext cx="3474720" cy="182880"/>
          </a:xfrm>
          <a:prstGeom prst="rect">
            <a:avLst/>
          </a:prstGeom>
          <a:noFill/>
        </p:spPr>
        <p:txBody>
          <a:bodyPr wrap="square">
            <a:spAutoFit/>
          </a:bodyPr>
          <a:lstStyle/>
          <a:p>
            <a:pPr algn="l"/>
            <a:r>
              <a:rPr sz="800" b="0" i="0">
                <a:solidFill>
                  <a:srgbClr val="10B981"/>
                </a:solidFill>
                <a:latin typeface="Calibri"/>
              </a:rPr>
              <a:t>▲ Growing</a:t>
            </a:r>
          </a:p>
        </p:txBody>
      </p:sp>
      <p:sp>
        <p:nvSpPr>
          <p:cNvPr id="23" name="Rectangle 22"/>
          <p:cNvSpPr/>
          <p:nvPr/>
        </p:nvSpPr>
        <p:spPr>
          <a:xfrm>
            <a:off x="384048" y="2075688"/>
            <a:ext cx="11393424" cy="2011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2093976"/>
            <a:ext cx="2743200" cy="182880"/>
          </a:xfrm>
          <a:prstGeom prst="rect">
            <a:avLst/>
          </a:prstGeom>
          <a:noFill/>
        </p:spPr>
        <p:txBody>
          <a:bodyPr wrap="square">
            <a:spAutoFit/>
          </a:bodyPr>
          <a:lstStyle/>
          <a:p>
            <a:pPr algn="l"/>
            <a:r>
              <a:rPr sz="800" b="0" i="0">
                <a:solidFill>
                  <a:srgbClr val="1A1A2E"/>
                </a:solidFill>
                <a:latin typeface="Calibri"/>
              </a:rPr>
              <a:t>Best Month</a:t>
            </a:r>
          </a:p>
        </p:txBody>
      </p:sp>
      <p:sp>
        <p:nvSpPr>
          <p:cNvPr id="25" name="TextBox 24"/>
          <p:cNvSpPr txBox="1"/>
          <p:nvPr/>
        </p:nvSpPr>
        <p:spPr>
          <a:xfrm>
            <a:off x="3474720" y="2093976"/>
            <a:ext cx="2286000" cy="182880"/>
          </a:xfrm>
          <a:prstGeom prst="rect">
            <a:avLst/>
          </a:prstGeom>
          <a:noFill/>
        </p:spPr>
        <p:txBody>
          <a:bodyPr wrap="square">
            <a:spAutoFit/>
          </a:bodyPr>
          <a:lstStyle/>
          <a:p>
            <a:pPr algn="l"/>
            <a:r>
              <a:rPr sz="800" b="0" i="0">
                <a:solidFill>
                  <a:srgbClr val="1A1A2E"/>
                </a:solidFill>
                <a:latin typeface="Calibri"/>
              </a:rPr>
              <a:t>August</a:t>
            </a:r>
          </a:p>
        </p:txBody>
      </p:sp>
      <p:sp>
        <p:nvSpPr>
          <p:cNvPr id="26" name="TextBox 25"/>
          <p:cNvSpPr txBox="1"/>
          <p:nvPr/>
        </p:nvSpPr>
        <p:spPr>
          <a:xfrm>
            <a:off x="5943600" y="2093976"/>
            <a:ext cx="2286000" cy="182880"/>
          </a:xfrm>
          <a:prstGeom prst="rect">
            <a:avLst/>
          </a:prstGeom>
          <a:noFill/>
        </p:spPr>
        <p:txBody>
          <a:bodyPr wrap="square">
            <a:spAutoFit/>
          </a:bodyPr>
          <a:lstStyle/>
          <a:p>
            <a:pPr algn="l"/>
            <a:r>
              <a:rPr sz="800" b="0" i="0">
                <a:solidFill>
                  <a:srgbClr val="1A1A2E"/>
                </a:solidFill>
                <a:latin typeface="Calibri"/>
              </a:rPr>
              <a:t>July</a:t>
            </a:r>
          </a:p>
        </p:txBody>
      </p:sp>
      <p:sp>
        <p:nvSpPr>
          <p:cNvPr id="27" name="TextBox 26"/>
          <p:cNvSpPr txBox="1"/>
          <p:nvPr/>
        </p:nvSpPr>
        <p:spPr>
          <a:xfrm>
            <a:off x="8412480" y="2093976"/>
            <a:ext cx="3474720" cy="182880"/>
          </a:xfrm>
          <a:prstGeom prst="rect">
            <a:avLst/>
          </a:prstGeom>
          <a:noFill/>
        </p:spPr>
        <p:txBody>
          <a:bodyPr wrap="square">
            <a:spAutoFit/>
          </a:bodyPr>
          <a:lstStyle/>
          <a:p>
            <a:pPr algn="l"/>
            <a:r>
              <a:rPr sz="800" b="0" i="0">
                <a:solidFill>
                  <a:srgbClr val="1A1A2E"/>
                </a:solidFill>
                <a:latin typeface="Calibri"/>
              </a:rPr>
              <a:t>Seasonal shift</a:t>
            </a:r>
          </a:p>
        </p:txBody>
      </p:sp>
      <p:sp>
        <p:nvSpPr>
          <p:cNvPr id="28" name="Rectangle 27"/>
          <p:cNvSpPr/>
          <p:nvPr/>
        </p:nvSpPr>
        <p:spPr>
          <a:xfrm>
            <a:off x="384048" y="2276856"/>
            <a:ext cx="11393424" cy="201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2295144"/>
            <a:ext cx="2743200" cy="182880"/>
          </a:xfrm>
          <a:prstGeom prst="rect">
            <a:avLst/>
          </a:prstGeom>
          <a:noFill/>
        </p:spPr>
        <p:txBody>
          <a:bodyPr wrap="square">
            <a:spAutoFit/>
          </a:bodyPr>
          <a:lstStyle/>
          <a:p>
            <a:pPr algn="l"/>
            <a:r>
              <a:rPr sz="800" b="0" i="0">
                <a:solidFill>
                  <a:srgbClr val="1A1A2E"/>
                </a:solidFill>
                <a:latin typeface="Calibri"/>
              </a:rPr>
              <a:t>Weakest Month</a:t>
            </a:r>
          </a:p>
        </p:txBody>
      </p:sp>
      <p:sp>
        <p:nvSpPr>
          <p:cNvPr id="30" name="TextBox 29"/>
          <p:cNvSpPr txBox="1"/>
          <p:nvPr/>
        </p:nvSpPr>
        <p:spPr>
          <a:xfrm>
            <a:off x="3474720" y="2295144"/>
            <a:ext cx="2286000" cy="182880"/>
          </a:xfrm>
          <a:prstGeom prst="rect">
            <a:avLst/>
          </a:prstGeom>
          <a:noFill/>
        </p:spPr>
        <p:txBody>
          <a:bodyPr wrap="square">
            <a:spAutoFit/>
          </a:bodyPr>
          <a:lstStyle/>
          <a:p>
            <a:pPr algn="l"/>
            <a:r>
              <a:rPr sz="800" b="0" i="0">
                <a:solidFill>
                  <a:srgbClr val="1A1A2E"/>
                </a:solidFill>
                <a:latin typeface="Calibri"/>
              </a:rPr>
              <a:t>February</a:t>
            </a:r>
          </a:p>
        </p:txBody>
      </p:sp>
      <p:sp>
        <p:nvSpPr>
          <p:cNvPr id="31" name="TextBox 30"/>
          <p:cNvSpPr txBox="1"/>
          <p:nvPr/>
        </p:nvSpPr>
        <p:spPr>
          <a:xfrm>
            <a:off x="5943600" y="2295144"/>
            <a:ext cx="2286000" cy="182880"/>
          </a:xfrm>
          <a:prstGeom prst="rect">
            <a:avLst/>
          </a:prstGeom>
          <a:noFill/>
        </p:spPr>
        <p:txBody>
          <a:bodyPr wrap="square">
            <a:spAutoFit/>
          </a:bodyPr>
          <a:lstStyle/>
          <a:p>
            <a:pPr algn="l"/>
            <a:r>
              <a:rPr sz="800" b="0" i="0">
                <a:solidFill>
                  <a:srgbClr val="1A1A2E"/>
                </a:solidFill>
                <a:latin typeface="Calibri"/>
              </a:rPr>
              <a:t>February</a:t>
            </a:r>
          </a:p>
        </p:txBody>
      </p:sp>
      <p:sp>
        <p:nvSpPr>
          <p:cNvPr id="32" name="TextBox 31"/>
          <p:cNvSpPr txBox="1"/>
          <p:nvPr/>
        </p:nvSpPr>
        <p:spPr>
          <a:xfrm>
            <a:off x="8412480" y="2295144"/>
            <a:ext cx="3474720" cy="182880"/>
          </a:xfrm>
          <a:prstGeom prst="rect">
            <a:avLst/>
          </a:prstGeom>
          <a:noFill/>
        </p:spPr>
        <p:txBody>
          <a:bodyPr wrap="square">
            <a:spAutoFit/>
          </a:bodyPr>
          <a:lstStyle/>
          <a:p>
            <a:pPr algn="l"/>
            <a:r>
              <a:rPr sz="800" b="0" i="0">
                <a:solidFill>
                  <a:srgbClr val="1A1A2E"/>
                </a:solidFill>
                <a:latin typeface="Calibri"/>
              </a:rPr>
              <a:t>Consistent dip</a:t>
            </a:r>
          </a:p>
        </p:txBody>
      </p:sp>
      <p:sp>
        <p:nvSpPr>
          <p:cNvPr id="33" name="Rectangle 32"/>
          <p:cNvSpPr/>
          <p:nvPr/>
        </p:nvSpPr>
        <p:spPr>
          <a:xfrm>
            <a:off x="338328" y="2532888"/>
            <a:ext cx="5669280" cy="20116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47472" y="2542032"/>
            <a:ext cx="73152" cy="20116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9496" y="2670048"/>
            <a:ext cx="5303520" cy="347472"/>
          </a:xfrm>
          <a:prstGeom prst="rect">
            <a:avLst/>
          </a:prstGeom>
          <a:noFill/>
        </p:spPr>
        <p:txBody>
          <a:bodyPr wrap="square">
            <a:spAutoFit/>
          </a:bodyPr>
          <a:lstStyle/>
          <a:p>
            <a:pPr algn="l"/>
            <a:r>
              <a:rPr sz="1100" b="1" i="0">
                <a:solidFill>
                  <a:srgbClr val="FFFFFF"/>
                </a:solidFill>
                <a:latin typeface="Calibri"/>
              </a:rPr>
              <a:t>📈  Peak Season — Q3</a:t>
            </a:r>
          </a:p>
        </p:txBody>
      </p:sp>
      <p:sp>
        <p:nvSpPr>
          <p:cNvPr id="36" name="TextBox 35"/>
          <p:cNvSpPr txBox="1"/>
          <p:nvPr/>
        </p:nvSpPr>
        <p:spPr>
          <a:xfrm>
            <a:off x="562356" y="3017520"/>
            <a:ext cx="5257800" cy="1325880"/>
          </a:xfrm>
          <a:prstGeom prst="rect">
            <a:avLst/>
          </a:prstGeom>
          <a:noFill/>
        </p:spPr>
        <p:txBody>
          <a:bodyPr wrap="square">
            <a:spAutoFit/>
          </a:bodyPr>
          <a:lstStyle/>
          <a:p>
            <a:pPr algn="l"/>
            <a:r>
              <a:rPr sz="950" b="0" i="0">
                <a:solidFill>
                  <a:srgbClr val="CADCFC"/>
                </a:solidFill>
                <a:latin typeface="Calibri"/>
              </a:rPr>
              <a:t>August and September are the strongest months in both 2023 and 2024. Stock levels and marketing spend should be highest during Q3.</a:t>
            </a:r>
          </a:p>
        </p:txBody>
      </p:sp>
      <p:sp>
        <p:nvSpPr>
          <p:cNvPr id="37" name="Rectangle 36"/>
          <p:cNvSpPr/>
          <p:nvPr/>
        </p:nvSpPr>
        <p:spPr>
          <a:xfrm>
            <a:off x="6281928" y="2532888"/>
            <a:ext cx="5669280" cy="20116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81928" y="2532888"/>
            <a:ext cx="73152" cy="20116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83096" y="2670048"/>
            <a:ext cx="5303520" cy="347472"/>
          </a:xfrm>
          <a:prstGeom prst="rect">
            <a:avLst/>
          </a:prstGeom>
          <a:noFill/>
        </p:spPr>
        <p:txBody>
          <a:bodyPr wrap="square">
            <a:spAutoFit/>
          </a:bodyPr>
          <a:lstStyle/>
          <a:p>
            <a:pPr algn="l"/>
            <a:r>
              <a:rPr sz="1100" b="1" i="0">
                <a:solidFill>
                  <a:srgbClr val="FFFFFF"/>
                </a:solidFill>
                <a:latin typeface="Calibri"/>
              </a:rPr>
              <a:t>📉  Weak Season — February</a:t>
            </a:r>
          </a:p>
        </p:txBody>
      </p:sp>
      <p:sp>
        <p:nvSpPr>
          <p:cNvPr id="40" name="TextBox 39"/>
          <p:cNvSpPr txBox="1"/>
          <p:nvPr/>
        </p:nvSpPr>
        <p:spPr>
          <a:xfrm>
            <a:off x="6483096" y="3081528"/>
            <a:ext cx="5257800" cy="1325880"/>
          </a:xfrm>
          <a:prstGeom prst="rect">
            <a:avLst/>
          </a:prstGeom>
          <a:noFill/>
        </p:spPr>
        <p:txBody>
          <a:bodyPr wrap="square">
            <a:spAutoFit/>
          </a:bodyPr>
          <a:lstStyle/>
          <a:p>
            <a:pPr algn="l"/>
            <a:r>
              <a:rPr sz="950" b="0" i="0">
                <a:solidFill>
                  <a:srgbClr val="CADCFC"/>
                </a:solidFill>
                <a:latin typeface="Calibri"/>
              </a:rPr>
              <a:t>February consistently records the lowest sales in both years. This may reflect post-January budget tightening by consumers.</a:t>
            </a:r>
          </a:p>
        </p:txBody>
      </p:sp>
      <p:sp>
        <p:nvSpPr>
          <p:cNvPr id="41" name="Rectangle 40"/>
          <p:cNvSpPr/>
          <p:nvPr/>
        </p:nvSpPr>
        <p:spPr>
          <a:xfrm>
            <a:off x="338328" y="4681728"/>
            <a:ext cx="5669280" cy="2011680"/>
          </a:xfrm>
          <a:prstGeom prst="rect">
            <a:avLst/>
          </a:prstGeom>
          <a:solidFill>
            <a:srgbClr val="067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38328" y="4681728"/>
            <a:ext cx="73152" cy="20116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39496" y="4818888"/>
            <a:ext cx="5303520" cy="347472"/>
          </a:xfrm>
          <a:prstGeom prst="rect">
            <a:avLst/>
          </a:prstGeom>
          <a:noFill/>
        </p:spPr>
        <p:txBody>
          <a:bodyPr wrap="square">
            <a:spAutoFit/>
          </a:bodyPr>
          <a:lstStyle/>
          <a:p>
            <a:pPr algn="l"/>
            <a:r>
              <a:rPr sz="1100" b="1" i="0">
                <a:solidFill>
                  <a:srgbClr val="FFFFFF"/>
                </a:solidFill>
                <a:latin typeface="Calibri"/>
              </a:rPr>
              <a:t>📊  2024 Outperforms 2023</a:t>
            </a:r>
          </a:p>
        </p:txBody>
      </p:sp>
      <p:sp>
        <p:nvSpPr>
          <p:cNvPr id="44" name="TextBox 43"/>
          <p:cNvSpPr txBox="1"/>
          <p:nvPr/>
        </p:nvSpPr>
        <p:spPr>
          <a:xfrm>
            <a:off x="539496" y="5230368"/>
            <a:ext cx="5257800" cy="1325880"/>
          </a:xfrm>
          <a:prstGeom prst="rect">
            <a:avLst/>
          </a:prstGeom>
          <a:noFill/>
        </p:spPr>
        <p:txBody>
          <a:bodyPr wrap="square">
            <a:spAutoFit/>
          </a:bodyPr>
          <a:lstStyle/>
          <a:p>
            <a:pPr algn="l"/>
            <a:r>
              <a:rPr sz="950" b="0" i="0">
                <a:solidFill>
                  <a:srgbClr val="CADCFC"/>
                </a:solidFill>
                <a:latin typeface="Calibri"/>
              </a:rPr>
              <a:t>In most months 2024 revenue exceeded 2023 — confirming year-over-year growth. The business is expanding despite cost pressures.</a:t>
            </a:r>
          </a:p>
        </p:txBody>
      </p:sp>
      <p:sp>
        <p:nvSpPr>
          <p:cNvPr id="45" name="Rectangle 44"/>
          <p:cNvSpPr/>
          <p:nvPr/>
        </p:nvSpPr>
        <p:spPr>
          <a:xfrm>
            <a:off x="6281928" y="4681728"/>
            <a:ext cx="5669280" cy="2011680"/>
          </a:xfrm>
          <a:prstGeom prst="rect">
            <a:avLst/>
          </a:prstGeom>
          <a:solidFill>
            <a:srgbClr val="7835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281928" y="4681728"/>
            <a:ext cx="73152" cy="20116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83096" y="4818888"/>
            <a:ext cx="5303520" cy="347472"/>
          </a:xfrm>
          <a:prstGeom prst="rect">
            <a:avLst/>
          </a:prstGeom>
          <a:noFill/>
        </p:spPr>
        <p:txBody>
          <a:bodyPr wrap="square">
            <a:spAutoFit/>
          </a:bodyPr>
          <a:lstStyle/>
          <a:p>
            <a:pPr algn="l"/>
            <a:r>
              <a:rPr sz="1100" b="1" i="0">
                <a:solidFill>
                  <a:srgbClr val="FFFFFF"/>
                </a:solidFill>
                <a:latin typeface="Calibri"/>
              </a:rPr>
              <a:t>⚠️  November Dip — Investigate</a:t>
            </a:r>
          </a:p>
        </p:txBody>
      </p:sp>
      <p:sp>
        <p:nvSpPr>
          <p:cNvPr id="48" name="TextBox 47"/>
          <p:cNvSpPr txBox="1"/>
          <p:nvPr/>
        </p:nvSpPr>
        <p:spPr>
          <a:xfrm>
            <a:off x="6483096" y="5230368"/>
            <a:ext cx="5257800" cy="1325880"/>
          </a:xfrm>
          <a:prstGeom prst="rect">
            <a:avLst/>
          </a:prstGeom>
          <a:noFill/>
        </p:spPr>
        <p:txBody>
          <a:bodyPr wrap="square">
            <a:spAutoFit/>
          </a:bodyPr>
          <a:lstStyle/>
          <a:p>
            <a:pPr algn="l"/>
            <a:r>
              <a:rPr sz="950" b="0" i="0">
                <a:solidFill>
                  <a:srgbClr val="CADCFC"/>
                </a:solidFill>
                <a:latin typeface="Calibri"/>
              </a:rPr>
              <a:t>Both years show an unexpected dip in November before December recovery. This pattern is unusual and should be investigated for supply or demand issues.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502920"/>
          </a:xfrm>
          <a:prstGeom prst="rect">
            <a:avLst/>
          </a:prstGeom>
          <a:noFill/>
        </p:spPr>
        <p:txBody>
          <a:bodyPr wrap="square">
            <a:spAutoFit/>
          </a:bodyPr>
          <a:lstStyle/>
          <a:p>
            <a:pPr algn="l"/>
            <a:r>
              <a:rPr sz="2200" b="1" i="0">
                <a:solidFill>
                  <a:srgbClr val="FFFFFF"/>
                </a:solidFill>
                <a:latin typeface="Calibri"/>
              </a:rPr>
              <a:t>RECOMMENDATIONS &amp; NEXT STEPS</a:t>
            </a:r>
          </a:p>
        </p:txBody>
      </p:sp>
      <p:sp>
        <p:nvSpPr>
          <p:cNvPr id="4" name="Rectangle 3"/>
          <p:cNvSpPr/>
          <p:nvPr/>
        </p:nvSpPr>
        <p:spPr>
          <a:xfrm>
            <a:off x="0" y="822960"/>
            <a:ext cx="91440" cy="603504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960120"/>
            <a:ext cx="3749039" cy="2331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73152" cy="233172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30352" y="1097280"/>
            <a:ext cx="384048" cy="384048"/>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097280"/>
            <a:ext cx="384048" cy="384048"/>
          </a:xfrm>
          <a:prstGeom prst="rect">
            <a:avLst/>
          </a:prstGeom>
          <a:noFill/>
        </p:spPr>
        <p:txBody>
          <a:bodyPr wrap="square">
            <a:spAutoFit/>
          </a:bodyPr>
          <a:lstStyle/>
          <a:p>
            <a:pPr algn="ctr"/>
            <a:r>
              <a:rPr sz="900" b="1" i="0">
                <a:solidFill>
                  <a:srgbClr val="0F172A"/>
                </a:solidFill>
                <a:latin typeface="Calibri"/>
              </a:rPr>
              <a:t>01</a:t>
            </a:r>
          </a:p>
        </p:txBody>
      </p:sp>
      <p:sp>
        <p:nvSpPr>
          <p:cNvPr id="9" name="TextBox 8"/>
          <p:cNvSpPr txBox="1"/>
          <p:nvPr/>
        </p:nvSpPr>
        <p:spPr>
          <a:xfrm>
            <a:off x="1024128" y="1097280"/>
            <a:ext cx="2971799" cy="384048"/>
          </a:xfrm>
          <a:prstGeom prst="rect">
            <a:avLst/>
          </a:prstGeom>
          <a:noFill/>
        </p:spPr>
        <p:txBody>
          <a:bodyPr wrap="square">
            <a:spAutoFit/>
          </a:bodyPr>
          <a:lstStyle/>
          <a:p>
            <a:pPr algn="l"/>
            <a:r>
              <a:rPr sz="1000" b="1" i="0">
                <a:solidFill>
                  <a:srgbClr val="FFFFFF"/>
                </a:solidFill>
                <a:latin typeface="Calibri"/>
              </a:rPr>
              <a:t>Invest in South Region Growth</a:t>
            </a:r>
          </a:p>
        </p:txBody>
      </p:sp>
      <p:sp>
        <p:nvSpPr>
          <p:cNvPr id="10" name="TextBox 9"/>
          <p:cNvSpPr txBox="1"/>
          <p:nvPr/>
        </p:nvSpPr>
        <p:spPr>
          <a:xfrm>
            <a:off x="530352" y="1600200"/>
            <a:ext cx="3474720" cy="1554480"/>
          </a:xfrm>
          <a:prstGeom prst="rect">
            <a:avLst/>
          </a:prstGeom>
          <a:noFill/>
        </p:spPr>
        <p:txBody>
          <a:bodyPr wrap="square">
            <a:spAutoFit/>
          </a:bodyPr>
          <a:lstStyle/>
          <a:p>
            <a:pPr algn="l"/>
            <a:r>
              <a:rPr sz="850" b="0" i="0">
                <a:solidFill>
                  <a:srgbClr val="CADCFC"/>
                </a:solidFill>
                <a:latin typeface="Calibri"/>
              </a:rPr>
              <a:t>South region significantly underperforms despite having major cities. Allocate a dedicated marketing budget and consider regional promotions specifically for Port Harcourt and Benin City in Q3 2026 — the peak season.</a:t>
            </a:r>
          </a:p>
        </p:txBody>
      </p:sp>
      <p:sp>
        <p:nvSpPr>
          <p:cNvPr id="11" name="Rectangle 10"/>
          <p:cNvSpPr/>
          <p:nvPr/>
        </p:nvSpPr>
        <p:spPr>
          <a:xfrm>
            <a:off x="4325112" y="960120"/>
            <a:ext cx="3749039" cy="2331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25112" y="960120"/>
            <a:ext cx="73152" cy="23317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9704" y="1097280"/>
            <a:ext cx="384048" cy="38404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9704" y="1097280"/>
            <a:ext cx="384048" cy="384048"/>
          </a:xfrm>
          <a:prstGeom prst="rect">
            <a:avLst/>
          </a:prstGeom>
          <a:noFill/>
        </p:spPr>
        <p:txBody>
          <a:bodyPr wrap="square">
            <a:spAutoFit/>
          </a:bodyPr>
          <a:lstStyle/>
          <a:p>
            <a:pPr algn="ctr"/>
            <a:r>
              <a:rPr sz="900" b="1" i="0">
                <a:solidFill>
                  <a:srgbClr val="0F172A"/>
                </a:solidFill>
                <a:latin typeface="Calibri"/>
              </a:rPr>
              <a:t>02</a:t>
            </a:r>
          </a:p>
        </p:txBody>
      </p:sp>
      <p:sp>
        <p:nvSpPr>
          <p:cNvPr id="15" name="TextBox 14"/>
          <p:cNvSpPr txBox="1"/>
          <p:nvPr/>
        </p:nvSpPr>
        <p:spPr>
          <a:xfrm>
            <a:off x="4983480" y="1097280"/>
            <a:ext cx="2971799" cy="384048"/>
          </a:xfrm>
          <a:prstGeom prst="rect">
            <a:avLst/>
          </a:prstGeom>
          <a:noFill/>
        </p:spPr>
        <p:txBody>
          <a:bodyPr wrap="square">
            <a:spAutoFit/>
          </a:bodyPr>
          <a:lstStyle/>
          <a:p>
            <a:pPr algn="l"/>
            <a:r>
              <a:rPr sz="1000" b="1" i="0">
                <a:solidFill>
                  <a:srgbClr val="FFFFFF"/>
                </a:solidFill>
                <a:latin typeface="Calibri"/>
              </a:rPr>
              <a:t>Protect Groceries or Exit It</a:t>
            </a:r>
          </a:p>
        </p:txBody>
      </p:sp>
      <p:sp>
        <p:nvSpPr>
          <p:cNvPr id="16" name="TextBox 15"/>
          <p:cNvSpPr txBox="1"/>
          <p:nvPr/>
        </p:nvSpPr>
        <p:spPr>
          <a:xfrm>
            <a:off x="4489704" y="1600200"/>
            <a:ext cx="3474720" cy="1554480"/>
          </a:xfrm>
          <a:prstGeom prst="rect">
            <a:avLst/>
          </a:prstGeom>
          <a:noFill/>
        </p:spPr>
        <p:txBody>
          <a:bodyPr wrap="square">
            <a:spAutoFit/>
          </a:bodyPr>
          <a:lstStyle/>
          <a:p>
            <a:pPr algn="l"/>
            <a:r>
              <a:rPr sz="850" b="0" i="0">
                <a:solidFill>
                  <a:srgbClr val="CADCFC"/>
                </a:solidFill>
                <a:latin typeface="Calibri"/>
              </a:rPr>
              <a:t>Groceries generates the lowest revenue of all five categories. Either invest in bundled promotions to grow volume, or reduce shelf space allocation and redirect resources to Furniture and Sports which deliver higher returns.</a:t>
            </a:r>
          </a:p>
        </p:txBody>
      </p:sp>
      <p:sp>
        <p:nvSpPr>
          <p:cNvPr id="17" name="Rectangle 16"/>
          <p:cNvSpPr/>
          <p:nvPr/>
        </p:nvSpPr>
        <p:spPr>
          <a:xfrm>
            <a:off x="8284464" y="960120"/>
            <a:ext cx="3749039" cy="2331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84464" y="960120"/>
            <a:ext cx="73152" cy="2331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449056" y="1097280"/>
            <a:ext cx="384048"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49056" y="1097280"/>
            <a:ext cx="384048" cy="384048"/>
          </a:xfrm>
          <a:prstGeom prst="rect">
            <a:avLst/>
          </a:prstGeom>
          <a:noFill/>
        </p:spPr>
        <p:txBody>
          <a:bodyPr wrap="square">
            <a:spAutoFit/>
          </a:bodyPr>
          <a:lstStyle/>
          <a:p>
            <a:pPr algn="ctr"/>
            <a:r>
              <a:rPr sz="900" b="1" i="0">
                <a:solidFill>
                  <a:srgbClr val="0F172A"/>
                </a:solidFill>
                <a:latin typeface="Calibri"/>
              </a:rPr>
              <a:t>03</a:t>
            </a:r>
          </a:p>
        </p:txBody>
      </p:sp>
      <p:sp>
        <p:nvSpPr>
          <p:cNvPr id="21" name="TextBox 20"/>
          <p:cNvSpPr txBox="1"/>
          <p:nvPr/>
        </p:nvSpPr>
        <p:spPr>
          <a:xfrm>
            <a:off x="8942832" y="1097280"/>
            <a:ext cx="2971799" cy="384048"/>
          </a:xfrm>
          <a:prstGeom prst="rect">
            <a:avLst/>
          </a:prstGeom>
          <a:noFill/>
        </p:spPr>
        <p:txBody>
          <a:bodyPr wrap="square">
            <a:spAutoFit/>
          </a:bodyPr>
          <a:lstStyle/>
          <a:p>
            <a:pPr algn="l"/>
            <a:r>
              <a:rPr sz="1000" b="1" i="0">
                <a:solidFill>
                  <a:srgbClr val="FFFFFF"/>
                </a:solidFill>
                <a:latin typeface="Calibri"/>
              </a:rPr>
              <a:t>Maintain Current Discount Policy</a:t>
            </a:r>
          </a:p>
        </p:txBody>
      </p:sp>
      <p:sp>
        <p:nvSpPr>
          <p:cNvPr id="22" name="TextBox 21"/>
          <p:cNvSpPr txBox="1"/>
          <p:nvPr/>
        </p:nvSpPr>
        <p:spPr>
          <a:xfrm>
            <a:off x="8449056" y="1600200"/>
            <a:ext cx="3474720" cy="1554480"/>
          </a:xfrm>
          <a:prstGeom prst="rect">
            <a:avLst/>
          </a:prstGeom>
          <a:noFill/>
        </p:spPr>
        <p:txBody>
          <a:bodyPr wrap="square">
            <a:spAutoFit/>
          </a:bodyPr>
          <a:lstStyle/>
          <a:p>
            <a:pPr algn="l"/>
            <a:r>
              <a:rPr sz="850" b="0" i="0">
                <a:solidFill>
                  <a:srgbClr val="CADCFC"/>
                </a:solidFill>
                <a:latin typeface="Calibri"/>
              </a:rPr>
              <a:t>Discounts are not hurting margins. The current discount structure of 0–20% is sustainable. No immediate action is required — but monitor Sports category specifically where 15% discount shows the lowest margin at 38.99%.</a:t>
            </a:r>
          </a:p>
        </p:txBody>
      </p:sp>
      <p:sp>
        <p:nvSpPr>
          <p:cNvPr id="23" name="Rectangle 22"/>
          <p:cNvSpPr/>
          <p:nvPr/>
        </p:nvSpPr>
        <p:spPr>
          <a:xfrm>
            <a:off x="365760" y="3520440"/>
            <a:ext cx="5669280" cy="2331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3520440"/>
            <a:ext cx="73152" cy="23317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30352" y="3657600"/>
            <a:ext cx="384048" cy="38404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0352" y="3657600"/>
            <a:ext cx="384048" cy="384048"/>
          </a:xfrm>
          <a:prstGeom prst="rect">
            <a:avLst/>
          </a:prstGeom>
          <a:noFill/>
        </p:spPr>
        <p:txBody>
          <a:bodyPr wrap="square">
            <a:spAutoFit/>
          </a:bodyPr>
          <a:lstStyle/>
          <a:p>
            <a:pPr algn="ctr"/>
            <a:r>
              <a:rPr sz="900" b="1" i="0">
                <a:solidFill>
                  <a:srgbClr val="0F172A"/>
                </a:solidFill>
                <a:latin typeface="Calibri"/>
              </a:rPr>
              <a:t>04</a:t>
            </a:r>
          </a:p>
        </p:txBody>
      </p:sp>
      <p:sp>
        <p:nvSpPr>
          <p:cNvPr id="27" name="TextBox 26"/>
          <p:cNvSpPr txBox="1"/>
          <p:nvPr/>
        </p:nvSpPr>
        <p:spPr>
          <a:xfrm>
            <a:off x="1024128" y="3657600"/>
            <a:ext cx="4892040" cy="384048"/>
          </a:xfrm>
          <a:prstGeom prst="rect">
            <a:avLst/>
          </a:prstGeom>
          <a:noFill/>
        </p:spPr>
        <p:txBody>
          <a:bodyPr wrap="square">
            <a:spAutoFit/>
          </a:bodyPr>
          <a:lstStyle/>
          <a:p>
            <a:pPr algn="l"/>
            <a:r>
              <a:rPr sz="1000" b="1" i="0">
                <a:solidFill>
                  <a:srgbClr val="FFFFFF"/>
                </a:solidFill>
                <a:latin typeface="Calibri"/>
              </a:rPr>
              <a:t>Digitalise Payment in North and East</a:t>
            </a:r>
          </a:p>
        </p:txBody>
      </p:sp>
      <p:sp>
        <p:nvSpPr>
          <p:cNvPr id="28" name="TextBox 27"/>
          <p:cNvSpPr txBox="1"/>
          <p:nvPr/>
        </p:nvSpPr>
        <p:spPr>
          <a:xfrm>
            <a:off x="530352" y="4160520"/>
            <a:ext cx="5394960" cy="1554480"/>
          </a:xfrm>
          <a:prstGeom prst="rect">
            <a:avLst/>
          </a:prstGeom>
          <a:noFill/>
        </p:spPr>
        <p:txBody>
          <a:bodyPr wrap="square">
            <a:spAutoFit/>
          </a:bodyPr>
          <a:lstStyle/>
          <a:p>
            <a:pPr algn="l"/>
            <a:r>
              <a:rPr sz="850" b="0" i="0">
                <a:solidFill>
                  <a:srgbClr val="CADCFC"/>
                </a:solidFill>
                <a:latin typeface="Calibri"/>
              </a:rPr>
              <a:t>Cash remains dominant in Northern and Eastern cities. Invest in POS infrastructure and introduce mobile transfer incentives to shift customers to digital payments — reducing cash handling costs and improving transaction speed.</a:t>
            </a:r>
          </a:p>
        </p:txBody>
      </p:sp>
      <p:sp>
        <p:nvSpPr>
          <p:cNvPr id="29" name="Rectangle 28"/>
          <p:cNvSpPr/>
          <p:nvPr/>
        </p:nvSpPr>
        <p:spPr>
          <a:xfrm>
            <a:off x="6309360" y="3520440"/>
            <a:ext cx="5669280" cy="2331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309360" y="3520440"/>
            <a:ext cx="73152" cy="2331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73952" y="3657600"/>
            <a:ext cx="384048" cy="38404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73952" y="3657600"/>
            <a:ext cx="384048" cy="384048"/>
          </a:xfrm>
          <a:prstGeom prst="rect">
            <a:avLst/>
          </a:prstGeom>
          <a:noFill/>
        </p:spPr>
        <p:txBody>
          <a:bodyPr wrap="square">
            <a:spAutoFit/>
          </a:bodyPr>
          <a:lstStyle/>
          <a:p>
            <a:pPr algn="ctr"/>
            <a:r>
              <a:rPr sz="900" b="1" i="0">
                <a:solidFill>
                  <a:srgbClr val="0F172A"/>
                </a:solidFill>
                <a:latin typeface="Calibri"/>
              </a:rPr>
              <a:t>05</a:t>
            </a:r>
          </a:p>
        </p:txBody>
      </p:sp>
      <p:sp>
        <p:nvSpPr>
          <p:cNvPr id="33" name="TextBox 32"/>
          <p:cNvSpPr txBox="1"/>
          <p:nvPr/>
        </p:nvSpPr>
        <p:spPr>
          <a:xfrm>
            <a:off x="6967728" y="3657600"/>
            <a:ext cx="4892040" cy="384048"/>
          </a:xfrm>
          <a:prstGeom prst="rect">
            <a:avLst/>
          </a:prstGeom>
          <a:noFill/>
        </p:spPr>
        <p:txBody>
          <a:bodyPr wrap="square">
            <a:spAutoFit/>
          </a:bodyPr>
          <a:lstStyle/>
          <a:p>
            <a:pPr algn="l"/>
            <a:r>
              <a:rPr sz="1000" b="1" i="0">
                <a:solidFill>
                  <a:srgbClr val="FFFFFF"/>
                </a:solidFill>
                <a:latin typeface="Calibri"/>
              </a:rPr>
              <a:t>Investigate November Sales Dip</a:t>
            </a:r>
          </a:p>
        </p:txBody>
      </p:sp>
      <p:sp>
        <p:nvSpPr>
          <p:cNvPr id="34" name="TextBox 33"/>
          <p:cNvSpPr txBox="1"/>
          <p:nvPr/>
        </p:nvSpPr>
        <p:spPr>
          <a:xfrm>
            <a:off x="6473952" y="4160520"/>
            <a:ext cx="5394960" cy="1554480"/>
          </a:xfrm>
          <a:prstGeom prst="rect">
            <a:avLst/>
          </a:prstGeom>
          <a:noFill/>
        </p:spPr>
        <p:txBody>
          <a:bodyPr wrap="square">
            <a:spAutoFit/>
          </a:bodyPr>
          <a:lstStyle/>
          <a:p>
            <a:pPr algn="l"/>
            <a:r>
              <a:rPr sz="850" b="0" i="0">
                <a:solidFill>
                  <a:srgbClr val="CADCFC"/>
                </a:solidFill>
                <a:latin typeface="Calibri"/>
              </a:rPr>
              <a:t>A consistent November dip appears in both 2023 and 2024 before a December recovery. This pattern needs investigation — it may indicate a supply gap, a marketing pause, or a demand-side issue that can be corrected.</a:t>
            </a:r>
          </a:p>
        </p:txBody>
      </p:sp>
      <p:sp>
        <p:nvSpPr>
          <p:cNvPr id="35" name="TextBox 34"/>
          <p:cNvSpPr txBox="1"/>
          <p:nvPr/>
        </p:nvSpPr>
        <p:spPr>
          <a:xfrm>
            <a:off x="365760" y="6492240"/>
            <a:ext cx="11430000" cy="274320"/>
          </a:xfrm>
          <a:prstGeom prst="rect">
            <a:avLst/>
          </a:prstGeom>
          <a:noFill/>
        </p:spPr>
        <p:txBody>
          <a:bodyPr wrap="square">
            <a:spAutoFit/>
          </a:bodyPr>
          <a:lstStyle/>
          <a:p>
            <a:pPr algn="ctr"/>
            <a:r>
              <a:rPr sz="800" b="0" i="0">
                <a:solidFill>
                  <a:srgbClr val="64748B"/>
                </a:solidFill>
                <a:latin typeface="Calibri"/>
              </a:rPr>
              <a:t>Data Period: Jan 2023 — Dec 2024   |   Source: Retail Sales Dataset   |   Prepared: April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64592" y="3246120"/>
            <a:ext cx="12024360" cy="7315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0972800" cy="1097280"/>
          </a:xfrm>
          <a:prstGeom prst="rect">
            <a:avLst/>
          </a:prstGeom>
          <a:noFill/>
        </p:spPr>
        <p:txBody>
          <a:bodyPr wrap="square">
            <a:spAutoFit/>
          </a:bodyPr>
          <a:lstStyle/>
          <a:p>
            <a:pPr algn="l"/>
            <a:r>
              <a:rPr sz="6000" b="1" i="0">
                <a:solidFill>
                  <a:srgbClr val="FFFFFF"/>
                </a:solidFill>
                <a:latin typeface="Calibri"/>
              </a:rPr>
              <a:t>Thank You</a:t>
            </a:r>
          </a:p>
        </p:txBody>
      </p:sp>
      <p:sp>
        <p:nvSpPr>
          <p:cNvPr id="5" name="TextBox 4"/>
          <p:cNvSpPr txBox="1"/>
          <p:nvPr/>
        </p:nvSpPr>
        <p:spPr>
          <a:xfrm>
            <a:off x="548640" y="2423160"/>
            <a:ext cx="10972800" cy="640080"/>
          </a:xfrm>
          <a:prstGeom prst="rect">
            <a:avLst/>
          </a:prstGeom>
          <a:noFill/>
        </p:spPr>
        <p:txBody>
          <a:bodyPr wrap="square">
            <a:spAutoFit/>
          </a:bodyPr>
          <a:lstStyle/>
          <a:p>
            <a:pPr algn="l"/>
            <a:r>
              <a:rPr sz="2200" b="0" i="1">
                <a:solidFill>
                  <a:srgbClr val="CADCFC"/>
                </a:solidFill>
                <a:latin typeface="Calibri"/>
              </a:rPr>
              <a:t>Questions &amp; Discussion Welcome</a:t>
            </a:r>
          </a:p>
        </p:txBody>
      </p:sp>
      <p:sp>
        <p:nvSpPr>
          <p:cNvPr id="6" name="TextBox 5"/>
          <p:cNvSpPr txBox="1"/>
          <p:nvPr/>
        </p:nvSpPr>
        <p:spPr>
          <a:xfrm>
            <a:off x="548640" y="3520440"/>
            <a:ext cx="10972800" cy="411480"/>
          </a:xfrm>
          <a:prstGeom prst="rect">
            <a:avLst/>
          </a:prstGeom>
          <a:noFill/>
        </p:spPr>
        <p:txBody>
          <a:bodyPr wrap="square">
            <a:spAutoFit/>
          </a:bodyPr>
          <a:lstStyle/>
          <a:p>
            <a:pPr algn="l"/>
            <a:r>
              <a:rPr sz="1100" b="0" i="0">
                <a:solidFill>
                  <a:srgbClr val="64748B"/>
                </a:solidFill>
                <a:latin typeface="Calibri"/>
              </a:rPr>
              <a:t>Dashboard built in Power BI   |   Data: Retail Sales Dataset 2023–2024</a:t>
            </a:r>
          </a:p>
        </p:txBody>
      </p:sp>
      <p:sp>
        <p:nvSpPr>
          <p:cNvPr id="7" name="TextBox 6"/>
          <p:cNvSpPr txBox="1"/>
          <p:nvPr/>
        </p:nvSpPr>
        <p:spPr>
          <a:xfrm>
            <a:off x="548640" y="4160520"/>
            <a:ext cx="10972800" cy="502920"/>
          </a:xfrm>
          <a:prstGeom prst="rect">
            <a:avLst/>
          </a:prstGeom>
          <a:noFill/>
        </p:spPr>
        <p:txBody>
          <a:bodyPr wrap="square">
            <a:spAutoFit/>
          </a:bodyPr>
          <a:lstStyle/>
          <a:p>
            <a:pPr algn="l"/>
            <a:r>
              <a:rPr sz="1100" b="0" i="0">
                <a:solidFill>
                  <a:srgbClr val="CADCFC"/>
                </a:solidFill>
                <a:latin typeface="Calibri"/>
              </a:rPr>
              <a:t>📊  Power BI Dashboard available for live demo and drill-down</a:t>
            </a:r>
          </a:p>
        </p:txBody>
      </p:sp>
      <p:sp>
        <p:nvSpPr>
          <p:cNvPr id="8" name="TextBox 7"/>
          <p:cNvSpPr txBox="1"/>
          <p:nvPr/>
        </p:nvSpPr>
        <p:spPr>
          <a:xfrm>
            <a:off x="548640" y="4846320"/>
            <a:ext cx="10972800" cy="502920"/>
          </a:xfrm>
          <a:prstGeom prst="rect">
            <a:avLst/>
          </a:prstGeom>
          <a:noFill/>
        </p:spPr>
        <p:txBody>
          <a:bodyPr wrap="square">
            <a:spAutoFit/>
          </a:bodyPr>
          <a:lstStyle/>
          <a:p>
            <a:pPr algn="l"/>
            <a:r>
              <a:rPr sz="1100" b="0" i="0">
                <a:solidFill>
                  <a:srgbClr val="CADCFC"/>
                </a:solidFill>
                <a:latin typeface="Calibri"/>
              </a:rPr>
              <a:t>📁  Raw dataset and Excel workbook available on request</a:t>
            </a:r>
          </a:p>
        </p:txBody>
      </p:sp>
      <p:sp>
        <p:nvSpPr>
          <p:cNvPr id="9" name="TextBox 8"/>
          <p:cNvSpPr txBox="1"/>
          <p:nvPr/>
        </p:nvSpPr>
        <p:spPr>
          <a:xfrm>
            <a:off x="548640" y="5532120"/>
            <a:ext cx="10972800" cy="502920"/>
          </a:xfrm>
          <a:prstGeom prst="rect">
            <a:avLst/>
          </a:prstGeom>
          <a:noFill/>
        </p:spPr>
        <p:txBody>
          <a:bodyPr wrap="square">
            <a:spAutoFit/>
          </a:bodyPr>
          <a:lstStyle/>
          <a:p>
            <a:pPr algn="l"/>
            <a:r>
              <a:rPr sz="1100" b="0" i="0">
                <a:solidFill>
                  <a:srgbClr val="CADCFC"/>
                </a:solidFill>
                <a:latin typeface="Calibri"/>
              </a:rPr>
              <a:t>📋  Full written report accompanies this presentation</a:t>
            </a:r>
          </a:p>
        </p:txBody>
      </p:sp>
      <p:sp>
        <p:nvSpPr>
          <p:cNvPr id="10" name="Rectangle 9"/>
          <p:cNvSpPr/>
          <p:nvPr/>
        </p:nvSpPr>
        <p:spPr>
          <a:xfrm>
            <a:off x="164592" y="6217920"/>
            <a:ext cx="12024360" cy="10972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327648"/>
            <a:ext cx="11430000" cy="365760"/>
          </a:xfrm>
          <a:prstGeom prst="rect">
            <a:avLst/>
          </a:prstGeom>
          <a:noFill/>
        </p:spPr>
        <p:txBody>
          <a:bodyPr wrap="square">
            <a:spAutoFit/>
          </a:bodyPr>
          <a:lstStyle/>
          <a:p>
            <a:pPr algn="ctr"/>
            <a:r>
              <a:rPr sz="900" b="0" i="0">
                <a:solidFill>
                  <a:srgbClr val="64748B"/>
                </a:solidFill>
                <a:latin typeface="Calibri"/>
              </a:rPr>
              <a:t>Retail Sales Performance Analysis   |   April 2026   |   Data Analytics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9554</TotalTime>
  <Words>1408</Words>
  <Application>Microsoft Office PowerPoint</Application>
  <PresentationFormat>Custom</PresentationFormat>
  <Paragraphs>224</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dare sulemana</cp:lastModifiedBy>
  <cp:revision>3</cp:revision>
  <dcterms:created xsi:type="dcterms:W3CDTF">2013-01-27T09:14:16Z</dcterms:created>
  <dcterms:modified xsi:type="dcterms:W3CDTF">2026-04-12T08:35:37Z</dcterms:modified>
  <cp:category/>
</cp:coreProperties>
</file>